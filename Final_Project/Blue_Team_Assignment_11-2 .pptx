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20"/>
  </p:notesMasterIdLst>
  <p:sldIdLst>
    <p:sldId id="256" r:id="rId2"/>
    <p:sldId id="257" r:id="rId3"/>
    <p:sldId id="259" r:id="rId4"/>
    <p:sldId id="260" r:id="rId5"/>
    <p:sldId id="261" r:id="rId6"/>
    <p:sldId id="274" r:id="rId7"/>
    <p:sldId id="275" r:id="rId8"/>
    <p:sldId id="262" r:id="rId9"/>
    <p:sldId id="280" r:id="rId10"/>
    <p:sldId id="281" r:id="rId11"/>
    <p:sldId id="263" r:id="rId12"/>
    <p:sldId id="282" r:id="rId13"/>
    <p:sldId id="278" r:id="rId14"/>
    <p:sldId id="279" r:id="rId15"/>
    <p:sldId id="283" r:id="rId16"/>
    <p:sldId id="267" r:id="rId17"/>
    <p:sldId id="268"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3AEC8-B2BE-4104-AC26-E5F7FC3F0A0C}" v="116" dt="2025-12-15T04:03:53.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p:restoredTop sz="94694"/>
  </p:normalViewPr>
  <p:slideViewPr>
    <p:cSldViewPr snapToGrid="0">
      <p:cViewPr varScale="1">
        <p:scale>
          <a:sx n="45" d="100"/>
          <a:sy n="45" d="100"/>
        </p:scale>
        <p:origin x="34" y="10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White" userId="90c98b8f7e12d39a" providerId="LiveId" clId="{3CE43467-31F5-4633-8366-A087F1CE4F57}"/>
    <pc:docChg chg="undo redo custSel modSld">
      <pc:chgData name="Sara White" userId="90c98b8f7e12d39a" providerId="LiveId" clId="{3CE43467-31F5-4633-8366-A087F1CE4F57}" dt="2025-12-15T04:04:01.082" v="226" actId="20577"/>
      <pc:docMkLst>
        <pc:docMk/>
      </pc:docMkLst>
      <pc:sldChg chg="modSp mod setBg">
        <pc:chgData name="Sara White" userId="90c98b8f7e12d39a" providerId="LiveId" clId="{3CE43467-31F5-4633-8366-A087F1CE4F57}" dt="2025-12-15T03:18:29.662" v="171" actId="1076"/>
        <pc:sldMkLst>
          <pc:docMk/>
          <pc:sldMk cId="2819651921" sldId="260"/>
        </pc:sldMkLst>
        <pc:spChg chg="mod">
          <ac:chgData name="Sara White" userId="90c98b8f7e12d39a" providerId="LiveId" clId="{3CE43467-31F5-4633-8366-A087F1CE4F57}" dt="2025-12-15T03:18:29.662" v="171" actId="1076"/>
          <ac:spMkLst>
            <pc:docMk/>
            <pc:sldMk cId="2819651921" sldId="260"/>
            <ac:spMk id="3" creationId="{0951E944-941C-0DCA-8D64-B5CF97866493}"/>
          </ac:spMkLst>
        </pc:spChg>
      </pc:sldChg>
      <pc:sldChg chg="modSp mod">
        <pc:chgData name="Sara White" userId="90c98b8f7e12d39a" providerId="LiveId" clId="{3CE43467-31F5-4633-8366-A087F1CE4F57}" dt="2025-12-15T03:20:26.956" v="185" actId="115"/>
        <pc:sldMkLst>
          <pc:docMk/>
          <pc:sldMk cId="4088206094" sldId="262"/>
        </pc:sldMkLst>
        <pc:spChg chg="mod">
          <ac:chgData name="Sara White" userId="90c98b8f7e12d39a" providerId="LiveId" clId="{3CE43467-31F5-4633-8366-A087F1CE4F57}" dt="2025-12-15T03:20:26.956" v="185" actId="115"/>
          <ac:spMkLst>
            <pc:docMk/>
            <pc:sldMk cId="4088206094" sldId="262"/>
            <ac:spMk id="9" creationId="{342268BF-72C9-3F2E-A87E-04F0214403FA}"/>
          </ac:spMkLst>
        </pc:spChg>
      </pc:sldChg>
      <pc:sldChg chg="modSp mod">
        <pc:chgData name="Sara White" userId="90c98b8f7e12d39a" providerId="LiveId" clId="{3CE43467-31F5-4633-8366-A087F1CE4F57}" dt="2025-12-15T03:21:15.581" v="195" actId="14100"/>
        <pc:sldMkLst>
          <pc:docMk/>
          <pc:sldMk cId="1783303385" sldId="263"/>
        </pc:sldMkLst>
        <pc:spChg chg="mod">
          <ac:chgData name="Sara White" userId="90c98b8f7e12d39a" providerId="LiveId" clId="{3CE43467-31F5-4633-8366-A087F1CE4F57}" dt="2025-12-15T03:21:15.581" v="195" actId="14100"/>
          <ac:spMkLst>
            <pc:docMk/>
            <pc:sldMk cId="1783303385" sldId="263"/>
            <ac:spMk id="2" creationId="{50C5C3CB-3C64-6AC6-CB4C-70EA66F8D59F}"/>
          </ac:spMkLst>
        </pc:spChg>
        <pc:picChg chg="mod">
          <ac:chgData name="Sara White" userId="90c98b8f7e12d39a" providerId="LiveId" clId="{3CE43467-31F5-4633-8366-A087F1CE4F57}" dt="2025-12-15T03:21:15.136" v="194" actId="14100"/>
          <ac:picMkLst>
            <pc:docMk/>
            <pc:sldMk cId="1783303385" sldId="263"/>
            <ac:picMk id="12" creationId="{D82E970E-148C-C450-FFB6-87667ACD60F3}"/>
          </ac:picMkLst>
        </pc:picChg>
      </pc:sldChg>
      <pc:sldChg chg="modSp mod">
        <pc:chgData name="Sara White" userId="90c98b8f7e12d39a" providerId="LiveId" clId="{3CE43467-31F5-4633-8366-A087F1CE4F57}" dt="2025-12-15T03:21:20.016" v="197" actId="115"/>
        <pc:sldMkLst>
          <pc:docMk/>
          <pc:sldMk cId="2082686722" sldId="280"/>
        </pc:sldMkLst>
        <pc:spChg chg="mod">
          <ac:chgData name="Sara White" userId="90c98b8f7e12d39a" providerId="LiveId" clId="{3CE43467-31F5-4633-8366-A087F1CE4F57}" dt="2025-12-15T03:21:20.016" v="197" actId="115"/>
          <ac:spMkLst>
            <pc:docMk/>
            <pc:sldMk cId="2082686722" sldId="280"/>
            <ac:spMk id="4" creationId="{632D5CB6-6600-12B8-CDBA-81D7AE3EB062}"/>
          </ac:spMkLst>
        </pc:spChg>
      </pc:sldChg>
      <pc:sldChg chg="modSp mod">
        <pc:chgData name="Sara White" userId="90c98b8f7e12d39a" providerId="LiveId" clId="{3CE43467-31F5-4633-8366-A087F1CE4F57}" dt="2025-12-15T03:20:02.171" v="183" actId="20577"/>
        <pc:sldMkLst>
          <pc:docMk/>
          <pc:sldMk cId="3569497535" sldId="281"/>
        </pc:sldMkLst>
        <pc:spChg chg="mod">
          <ac:chgData name="Sara White" userId="90c98b8f7e12d39a" providerId="LiveId" clId="{3CE43467-31F5-4633-8366-A087F1CE4F57}" dt="2025-12-15T03:20:02.171" v="183" actId="20577"/>
          <ac:spMkLst>
            <pc:docMk/>
            <pc:sldMk cId="3569497535" sldId="281"/>
            <ac:spMk id="12" creationId="{06F552BB-E579-CEFA-4524-A94D046120C7}"/>
          </ac:spMkLst>
        </pc:spChg>
        <pc:spChg chg="mod">
          <ac:chgData name="Sara White" userId="90c98b8f7e12d39a" providerId="LiveId" clId="{3CE43467-31F5-4633-8366-A087F1CE4F57}" dt="2025-12-15T03:19:51.261" v="180" actId="113"/>
          <ac:spMkLst>
            <pc:docMk/>
            <pc:sldMk cId="3569497535" sldId="281"/>
            <ac:spMk id="14" creationId="{D52188C2-5F50-6D9E-415A-9573134B4E75}"/>
          </ac:spMkLst>
        </pc:spChg>
        <pc:picChg chg="mod">
          <ac:chgData name="Sara White" userId="90c98b8f7e12d39a" providerId="LiveId" clId="{3CE43467-31F5-4633-8366-A087F1CE4F57}" dt="2025-12-15T03:19:32.941" v="176" actId="14100"/>
          <ac:picMkLst>
            <pc:docMk/>
            <pc:sldMk cId="3569497535" sldId="281"/>
            <ac:picMk id="4" creationId="{EEA6E54A-7679-A57B-B11F-C96F89CD2740}"/>
          </ac:picMkLst>
        </pc:picChg>
      </pc:sldChg>
      <pc:sldChg chg="addSp modSp mod">
        <pc:chgData name="Sara White" userId="90c98b8f7e12d39a" providerId="LiveId" clId="{3CE43467-31F5-4633-8366-A087F1CE4F57}" dt="2025-12-15T04:04:01.082" v="226" actId="20577"/>
        <pc:sldMkLst>
          <pc:docMk/>
          <pc:sldMk cId="1820326033" sldId="284"/>
        </pc:sldMkLst>
        <pc:spChg chg="add mod">
          <ac:chgData name="Sara White" userId="90c98b8f7e12d39a" providerId="LiveId" clId="{3CE43467-31F5-4633-8366-A087F1CE4F57}" dt="2025-12-15T04:04:01.082" v="226" actId="20577"/>
          <ac:spMkLst>
            <pc:docMk/>
            <pc:sldMk cId="1820326033" sldId="284"/>
            <ac:spMk id="3" creationId="{C63C4EE5-6C87-19EF-A5D3-FAFB31F167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CFBD1-0358-4DBD-A3C8-C700BA589B66}"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69D93-520C-4FCD-BFE4-676088C27D3A}" type="slidenum">
              <a:rPr lang="en-US" smtClean="0"/>
              <a:t>‹#›</a:t>
            </a:fld>
            <a:endParaRPr lang="en-US"/>
          </a:p>
        </p:txBody>
      </p:sp>
    </p:spTree>
    <p:extLst>
      <p:ext uri="{BB962C8B-B14F-4D97-AF65-F5344CB8AC3E}">
        <p14:creationId xmlns:p14="http://schemas.microsoft.com/office/powerpoint/2010/main" val="606387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A69D93-520C-4FCD-BFE4-676088C27D3A}" type="slidenum">
              <a:rPr lang="en-US" smtClean="0"/>
              <a:t>1</a:t>
            </a:fld>
            <a:endParaRPr lang="en-US"/>
          </a:p>
        </p:txBody>
      </p:sp>
    </p:spTree>
    <p:extLst>
      <p:ext uri="{BB962C8B-B14F-4D97-AF65-F5344CB8AC3E}">
        <p14:creationId xmlns:p14="http://schemas.microsoft.com/office/powerpoint/2010/main" val="1953536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12/17/2025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12/17/2025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12/17/2025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Sue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3"/>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the last quarter.</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1113423"/>
          </a:xfrm>
        </p:spPr>
        <p:txBody>
          <a:bodyPr anchor="ctr">
            <a:normAutofit/>
          </a:bodyPr>
          <a:lstStyle/>
          <a:p>
            <a:r>
              <a:rPr lang="en-US" dirty="0">
                <a:solidFill>
                  <a:schemeClr val="bg1"/>
                </a:solidFill>
              </a:rPr>
              <a:t>Finalized ERD (1 of 3)</a:t>
            </a:r>
            <a:endParaRPr lang="en-US" sz="2800" dirty="0">
              <a:solidFill>
                <a:schemeClr val="bg1"/>
              </a:solidFill>
            </a:endParaRPr>
          </a:p>
        </p:txBody>
      </p:sp>
      <p:pic>
        <p:nvPicPr>
          <p:cNvPr id="18" name="Picture 17" descr="A screenshot of a computer&#10;&#10;AI-generated content may be incorrect.">
            <a:extLst>
              <a:ext uri="{FF2B5EF4-FFF2-40B4-BE49-F238E27FC236}">
                <a16:creationId xmlns:a16="http://schemas.microsoft.com/office/drawing/2014/main" id="{6DA5359C-605D-EE17-A58A-22570D46ADD7}"/>
              </a:ext>
            </a:extLst>
          </p:cNvPr>
          <p:cNvPicPr>
            <a:picLocks noChangeAspect="1"/>
          </p:cNvPicPr>
          <p:nvPr/>
        </p:nvPicPr>
        <p:blipFill>
          <a:blip r:embed="rId2"/>
          <a:srcRect l="-138" t="11086" r="138" b="3666"/>
          <a:stretch>
            <a:fillRect/>
          </a:stretch>
        </p:blipFill>
        <p:spPr>
          <a:xfrm>
            <a:off x="1779849" y="1682636"/>
            <a:ext cx="8177697" cy="4579818"/>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976DB4-FE5A-0D66-8539-D0D188E2AB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C051A2C-EC12-0E95-6DA7-285A38E1C26A}"/>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8E0B928B-573A-EAA3-61EA-DC11F372A79A}"/>
              </a:ext>
            </a:extLst>
          </p:cNvPr>
          <p:cNvSpPr>
            <a:spLocks noGrp="1"/>
          </p:cNvSpPr>
          <p:nvPr>
            <p:ph type="title"/>
          </p:nvPr>
        </p:nvSpPr>
        <p:spPr>
          <a:xfrm>
            <a:off x="758952" y="379475"/>
            <a:ext cx="10671048" cy="902915"/>
          </a:xfrm>
        </p:spPr>
        <p:txBody>
          <a:bodyPr anchor="ctr">
            <a:normAutofit fontScale="90000"/>
          </a:bodyPr>
          <a:lstStyle/>
          <a:p>
            <a:r>
              <a:rPr lang="en-US" dirty="0">
                <a:solidFill>
                  <a:schemeClr val="bg1"/>
                </a:solidFill>
              </a:rPr>
              <a:t>Finalized ERD (2 of 3)</a:t>
            </a:r>
            <a:endParaRPr lang="en-US" sz="2800" dirty="0">
              <a:solidFill>
                <a:schemeClr val="bg1"/>
              </a:solidFill>
            </a:endParaRPr>
          </a:p>
        </p:txBody>
      </p:sp>
      <p:pic>
        <p:nvPicPr>
          <p:cNvPr id="11" name="Picture 10" descr="A screenshot of a computer&#10;&#10;AI-generated content may be incorrect.">
            <a:extLst>
              <a:ext uri="{FF2B5EF4-FFF2-40B4-BE49-F238E27FC236}">
                <a16:creationId xmlns:a16="http://schemas.microsoft.com/office/drawing/2014/main" id="{C98789BE-5EE9-370C-275A-221F818C405D}"/>
              </a:ext>
            </a:extLst>
          </p:cNvPr>
          <p:cNvPicPr>
            <a:picLocks noChangeAspect="1"/>
          </p:cNvPicPr>
          <p:nvPr/>
        </p:nvPicPr>
        <p:blipFill>
          <a:blip r:embed="rId2"/>
          <a:stretch>
            <a:fillRect/>
          </a:stretch>
        </p:blipFill>
        <p:spPr>
          <a:xfrm>
            <a:off x="1236132" y="1661865"/>
            <a:ext cx="9719735" cy="4931613"/>
          </a:xfrm>
          <a:prstGeom prst="rect">
            <a:avLst/>
          </a:prstGeom>
        </p:spPr>
      </p:pic>
    </p:spTree>
    <p:extLst>
      <p:ext uri="{BB962C8B-B14F-4D97-AF65-F5344CB8AC3E}">
        <p14:creationId xmlns:p14="http://schemas.microsoft.com/office/powerpoint/2010/main" val="10291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9946F-99FA-2F13-9BF5-33D4A97EC9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27E4DB-7875-83BA-8997-B5DF94E19E4E}"/>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7D1BBB75-045C-E716-8F03-DEDDC2493A80}"/>
              </a:ext>
            </a:extLst>
          </p:cNvPr>
          <p:cNvSpPr>
            <a:spLocks noGrp="1"/>
          </p:cNvSpPr>
          <p:nvPr>
            <p:ph type="title"/>
          </p:nvPr>
        </p:nvSpPr>
        <p:spPr>
          <a:xfrm>
            <a:off x="758952" y="379475"/>
            <a:ext cx="10671048" cy="1113423"/>
          </a:xfrm>
        </p:spPr>
        <p:txBody>
          <a:bodyPr anchor="ctr">
            <a:normAutofit/>
          </a:bodyPr>
          <a:lstStyle/>
          <a:p>
            <a:r>
              <a:rPr lang="en-US" dirty="0">
                <a:solidFill>
                  <a:schemeClr val="bg1"/>
                </a:solidFill>
              </a:rPr>
              <a:t>Finalized ERD (3 of 3)</a:t>
            </a:r>
            <a:endParaRPr lang="en-US" sz="280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FE2E6482-1135-0E0D-FBC7-B2B74EA0EFDB}"/>
              </a:ext>
            </a:extLst>
          </p:cNvPr>
          <p:cNvPicPr>
            <a:picLocks noChangeAspect="1"/>
          </p:cNvPicPr>
          <p:nvPr/>
        </p:nvPicPr>
        <p:blipFill>
          <a:blip r:embed="rId2"/>
          <a:stretch>
            <a:fillRect/>
          </a:stretch>
        </p:blipFill>
        <p:spPr>
          <a:xfrm>
            <a:off x="1302732" y="2297569"/>
            <a:ext cx="9583487" cy="3572374"/>
          </a:xfrm>
          <a:prstGeom prst="rect">
            <a:avLst/>
          </a:prstGeom>
        </p:spPr>
      </p:pic>
    </p:spTree>
    <p:extLst>
      <p:ext uri="{BB962C8B-B14F-4D97-AF65-F5344CB8AC3E}">
        <p14:creationId xmlns:p14="http://schemas.microsoft.com/office/powerpoint/2010/main" val="69426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pic>
        <p:nvPicPr>
          <p:cNvPr id="6" name="Picture 5">
            <a:extLst>
              <a:ext uri="{FF2B5EF4-FFF2-40B4-BE49-F238E27FC236}">
                <a16:creationId xmlns:a16="http://schemas.microsoft.com/office/drawing/2014/main" id="{C5934E80-9F24-C37A-0A40-52D0C979A834}"/>
              </a:ext>
            </a:extLst>
          </p:cNvPr>
          <p:cNvPicPr>
            <a:picLocks noChangeAspect="1"/>
          </p:cNvPicPr>
          <p:nvPr/>
        </p:nvPicPr>
        <p:blipFill>
          <a:blip r:embed="rId2"/>
          <a:stretch>
            <a:fillRect/>
          </a:stretch>
        </p:blipFill>
        <p:spPr>
          <a:xfrm>
            <a:off x="4699561" y="1612232"/>
            <a:ext cx="3098239" cy="4047810"/>
          </a:xfrm>
          <a:prstGeom prst="rect">
            <a:avLst/>
          </a:prstGeom>
        </p:spPr>
      </p:pic>
      <p:pic>
        <p:nvPicPr>
          <p:cNvPr id="8" name="Picture 7">
            <a:extLst>
              <a:ext uri="{FF2B5EF4-FFF2-40B4-BE49-F238E27FC236}">
                <a16:creationId xmlns:a16="http://schemas.microsoft.com/office/drawing/2014/main" id="{71115232-B8C7-A171-A693-A778BE6416C9}"/>
              </a:ext>
            </a:extLst>
          </p:cNvPr>
          <p:cNvPicPr>
            <a:picLocks noChangeAspect="1"/>
          </p:cNvPicPr>
          <p:nvPr/>
        </p:nvPicPr>
        <p:blipFill>
          <a:blip r:embed="rId3"/>
          <a:stretch>
            <a:fillRect/>
          </a:stretch>
        </p:blipFill>
        <p:spPr>
          <a:xfrm>
            <a:off x="508937" y="1612232"/>
            <a:ext cx="3910663" cy="4047810"/>
          </a:xfrm>
          <a:prstGeom prst="rect">
            <a:avLst/>
          </a:prstGeom>
        </p:spPr>
      </p:pic>
    </p:spTree>
    <p:extLst>
      <p:ext uri="{BB962C8B-B14F-4D97-AF65-F5344CB8AC3E}">
        <p14:creationId xmlns:p14="http://schemas.microsoft.com/office/powerpoint/2010/main" val="40882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pic>
        <p:nvPicPr>
          <p:cNvPr id="3" name="Picture 2" descr="A screenshot of a computer&#10;&#10;AI-generated content may be incorrect.">
            <a:extLst>
              <a:ext uri="{FF2B5EF4-FFF2-40B4-BE49-F238E27FC236}">
                <a16:creationId xmlns:a16="http://schemas.microsoft.com/office/drawing/2014/main" id="{80116DCD-EC99-1984-5295-EAF299889DBA}"/>
              </a:ext>
            </a:extLst>
          </p:cNvPr>
          <p:cNvPicPr>
            <a:picLocks noChangeAspect="1"/>
          </p:cNvPicPr>
          <p:nvPr/>
        </p:nvPicPr>
        <p:blipFill>
          <a:blip r:embed="rId2"/>
          <a:stretch>
            <a:fillRect/>
          </a:stretch>
        </p:blipFill>
        <p:spPr>
          <a:xfrm>
            <a:off x="622719" y="1101997"/>
            <a:ext cx="7940728" cy="3033023"/>
          </a:xfrm>
          <a:prstGeom prst="rect">
            <a:avLst/>
          </a:prstGeom>
        </p:spPr>
      </p:pic>
      <p:sp>
        <p:nvSpPr>
          <p:cNvPr id="4" name="TextBox 3">
            <a:extLst>
              <a:ext uri="{FF2B5EF4-FFF2-40B4-BE49-F238E27FC236}">
                <a16:creationId xmlns:a16="http://schemas.microsoft.com/office/drawing/2014/main" id="{632D5CB6-6600-12B8-CDBA-81D7AE3EB062}"/>
              </a:ext>
            </a:extLst>
          </p:cNvPr>
          <p:cNvSpPr txBox="1"/>
          <p:nvPr/>
        </p:nvSpPr>
        <p:spPr>
          <a:xfrm>
            <a:off x="622719" y="4322616"/>
            <a:ext cx="10135821" cy="1815882"/>
          </a:xfrm>
          <a:prstGeom prst="rect">
            <a:avLst/>
          </a:prstGeom>
          <a:noFill/>
        </p:spPr>
        <p:txBody>
          <a:bodyPr wrap="square" rtlCol="0">
            <a:spAutoFit/>
          </a:bodyPr>
          <a:lstStyle/>
          <a:p>
            <a:r>
              <a:rPr lang="en-US" sz="1600" dirty="0"/>
              <a:t>This report highlights any differences between expected and actual delivery dates from suppliers. The </a:t>
            </a:r>
            <a:r>
              <a:rPr lang="en-US" sz="1600" b="1" dirty="0"/>
              <a:t>DaysDifference</a:t>
            </a:r>
            <a:r>
              <a:rPr lang="en-US" sz="1600" dirty="0"/>
              <a:t> column shows how many days the delivery is off from the anticipated delivery date, and the </a:t>
            </a:r>
            <a:r>
              <a:rPr lang="en-US" sz="1600" b="1" dirty="0"/>
              <a:t>DeliveryStatus</a:t>
            </a:r>
            <a:r>
              <a:rPr lang="en-US" sz="1600" dirty="0"/>
              <a:t> column states whether the delivery was early or on time.</a:t>
            </a:r>
          </a:p>
          <a:p>
            <a:endParaRPr lang="en-US" sz="1600" dirty="0"/>
          </a:p>
          <a:p>
            <a:r>
              <a:rPr lang="en-US" sz="1600" b="1" u="sng" dirty="0"/>
              <a:t>Use case</a:t>
            </a:r>
            <a:r>
              <a:rPr lang="en-US" sz="16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spTree>
    <p:extLst>
      <p:ext uri="{BB962C8B-B14F-4D97-AF65-F5344CB8AC3E}">
        <p14:creationId xmlns:p14="http://schemas.microsoft.com/office/powerpoint/2010/main" val="20826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246769"/>
          </a:xfrm>
          <a:prstGeom prst="rect">
            <a:avLst/>
          </a:prstGeom>
          <a:noFill/>
        </p:spPr>
        <p:txBody>
          <a:bodyPr wrap="square" rtlCol="0">
            <a:spAutoFit/>
          </a:bodyPr>
          <a:lstStyle/>
          <a:p>
            <a:r>
              <a:rPr lang="en-US" sz="1400" dirty="0"/>
              <a:t>This report was generated to show the average number of hours worked per week by each individual employee. This report uses a dataset for a time period of one month, but could easily be expanded into quarterly or yearly averages.</a:t>
            </a:r>
          </a:p>
          <a:p>
            <a:r>
              <a:rPr lang="en-US" sz="1400" dirty="0"/>
              <a:t> </a:t>
            </a:r>
          </a:p>
          <a:p>
            <a:r>
              <a:rPr lang="en-US" sz="1400" dirty="0"/>
              <a:t>Two outputs are produced: the first is a list of each employee’s ID, followed by their name and average hours worked; The other report shows the average hours worked per week over each quarter for the last year for all hourly employees with their department.</a:t>
            </a:r>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pic>
        <p:nvPicPr>
          <p:cNvPr id="5" name="Picture 4" descr="A screenshot of a computer screen&#10;&#10;AI-generated content may be incorrect.">
            <a:extLst>
              <a:ext uri="{FF2B5EF4-FFF2-40B4-BE49-F238E27FC236}">
                <a16:creationId xmlns:a16="http://schemas.microsoft.com/office/drawing/2014/main" id="{F23F8FF3-1BA8-FF20-DE1E-D3FC0EE29D43}"/>
              </a:ext>
            </a:extLst>
          </p:cNvPr>
          <p:cNvPicPr>
            <a:picLocks noChangeAspect="1"/>
          </p:cNvPicPr>
          <p:nvPr/>
        </p:nvPicPr>
        <p:blipFill>
          <a:blip r:embed="rId3"/>
          <a:stretch>
            <a:fillRect/>
          </a:stretch>
        </p:blipFill>
        <p:spPr>
          <a:xfrm>
            <a:off x="5633544" y="1011474"/>
            <a:ext cx="6404958" cy="3581548"/>
          </a:xfrm>
          <a:prstGeom prst="rect">
            <a:avLst/>
          </a:prstGeom>
        </p:spPr>
      </p:pic>
    </p:spTree>
    <p:extLst>
      <p:ext uri="{BB962C8B-B14F-4D97-AF65-F5344CB8AC3E}">
        <p14:creationId xmlns:p14="http://schemas.microsoft.com/office/powerpoint/2010/main" val="356949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pic>
        <p:nvPicPr>
          <p:cNvPr id="8" name="Picture 7">
            <a:extLst>
              <a:ext uri="{FF2B5EF4-FFF2-40B4-BE49-F238E27FC236}">
                <a16:creationId xmlns:a16="http://schemas.microsoft.com/office/drawing/2014/main" id="{E58166B4-2188-5027-60E6-37686269A291}"/>
              </a:ext>
            </a:extLst>
          </p:cNvPr>
          <p:cNvPicPr>
            <a:picLocks noChangeAspect="1"/>
          </p:cNvPicPr>
          <p:nvPr/>
        </p:nvPicPr>
        <p:blipFill>
          <a:blip r:embed="rId2"/>
          <a:stretch>
            <a:fillRect/>
          </a:stretch>
        </p:blipFill>
        <p:spPr>
          <a:xfrm>
            <a:off x="6705455" y="1587332"/>
            <a:ext cx="4267345" cy="4731749"/>
          </a:xfrm>
          <a:prstGeom prst="rect">
            <a:avLst/>
          </a:prstGeom>
        </p:spPr>
      </p:pic>
      <p:pic>
        <p:nvPicPr>
          <p:cNvPr id="10" name="Picture 9">
            <a:extLst>
              <a:ext uri="{FF2B5EF4-FFF2-40B4-BE49-F238E27FC236}">
                <a16:creationId xmlns:a16="http://schemas.microsoft.com/office/drawing/2014/main" id="{AA3C2240-0C64-2C9C-13D7-48DDD36F9E7B}"/>
              </a:ext>
            </a:extLst>
          </p:cNvPr>
          <p:cNvPicPr>
            <a:picLocks noChangeAspect="1"/>
          </p:cNvPicPr>
          <p:nvPr/>
        </p:nvPicPr>
        <p:blipFill>
          <a:blip r:embed="rId3"/>
          <a:stretch>
            <a:fillRect/>
          </a:stretch>
        </p:blipFill>
        <p:spPr>
          <a:xfrm>
            <a:off x="758951" y="1587331"/>
            <a:ext cx="5658641" cy="4731749"/>
          </a:xfrm>
          <a:prstGeom prst="rect">
            <a:avLst/>
          </a:prstGeom>
        </p:spPr>
      </p:pic>
    </p:spTree>
    <p:extLst>
      <p:ext uri="{BB962C8B-B14F-4D97-AF65-F5344CB8AC3E}">
        <p14:creationId xmlns:p14="http://schemas.microsoft.com/office/powerpoint/2010/main" val="23828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pic>
        <p:nvPicPr>
          <p:cNvPr id="7" name="Picture 6" descr="A screen shot of a computer&#10;&#10;AI-generated content may be incorrect.">
            <a:extLst>
              <a:ext uri="{FF2B5EF4-FFF2-40B4-BE49-F238E27FC236}">
                <a16:creationId xmlns:a16="http://schemas.microsoft.com/office/drawing/2014/main" id="{F7B2F48A-17A6-A7BA-4973-D85D32122BBF}"/>
              </a:ext>
            </a:extLst>
          </p:cNvPr>
          <p:cNvPicPr>
            <a:picLocks noChangeAspect="1"/>
          </p:cNvPicPr>
          <p:nvPr/>
        </p:nvPicPr>
        <p:blipFill>
          <a:blip r:embed="rId2"/>
          <a:stretch>
            <a:fillRect/>
          </a:stretch>
        </p:blipFill>
        <p:spPr>
          <a:xfrm>
            <a:off x="638083" y="2052746"/>
            <a:ext cx="5456393" cy="3863675"/>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958F74A8-3BB6-C4FB-7B2A-DE130201B6B8}"/>
              </a:ext>
            </a:extLst>
          </p:cNvPr>
          <p:cNvPicPr>
            <a:picLocks noChangeAspect="1"/>
          </p:cNvPicPr>
          <p:nvPr/>
        </p:nvPicPr>
        <p:blipFill>
          <a:blip r:embed="rId3"/>
          <a:stretch>
            <a:fillRect/>
          </a:stretch>
        </p:blipFill>
        <p:spPr>
          <a:xfrm>
            <a:off x="6387938" y="2052745"/>
            <a:ext cx="5042062" cy="3863675"/>
          </a:xfrm>
          <a:prstGeom prst="rect">
            <a:avLst/>
          </a:prstGeom>
        </p:spPr>
      </p:pic>
    </p:spTree>
    <p:extLst>
      <p:ext uri="{BB962C8B-B14F-4D97-AF65-F5344CB8AC3E}">
        <p14:creationId xmlns:p14="http://schemas.microsoft.com/office/powerpoint/2010/main" val="253193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Weekly Hours for Employees: Python Code</a:t>
            </a:r>
          </a:p>
        </p:txBody>
      </p:sp>
      <p:pic>
        <p:nvPicPr>
          <p:cNvPr id="7" name="Picture 6" descr="A computer screen with white text&#10;&#10;AI-generated content may be incorrect.">
            <a:extLst>
              <a:ext uri="{FF2B5EF4-FFF2-40B4-BE49-F238E27FC236}">
                <a16:creationId xmlns:a16="http://schemas.microsoft.com/office/drawing/2014/main" id="{B15889D0-0FE9-EC25-291E-D5362AC496AC}"/>
              </a:ext>
            </a:extLst>
          </p:cNvPr>
          <p:cNvPicPr>
            <a:picLocks noChangeAspect="1"/>
          </p:cNvPicPr>
          <p:nvPr/>
        </p:nvPicPr>
        <p:blipFill>
          <a:blip r:embed="rId2"/>
          <a:stretch>
            <a:fillRect/>
          </a:stretch>
        </p:blipFill>
        <p:spPr>
          <a:xfrm>
            <a:off x="337185" y="2546392"/>
            <a:ext cx="5276537" cy="2377654"/>
          </a:xfrm>
          <a:prstGeom prst="rect">
            <a:avLst/>
          </a:prstGeom>
        </p:spPr>
      </p:pic>
      <p:pic>
        <p:nvPicPr>
          <p:cNvPr id="9" name="Picture 8" descr="A computer screen shot of a program&#10;&#10;AI-generated content may be incorrect.">
            <a:extLst>
              <a:ext uri="{FF2B5EF4-FFF2-40B4-BE49-F238E27FC236}">
                <a16:creationId xmlns:a16="http://schemas.microsoft.com/office/drawing/2014/main" id="{B3AFE3BA-1150-CAB7-D09D-4D4619EFF48A}"/>
              </a:ext>
            </a:extLst>
          </p:cNvPr>
          <p:cNvPicPr>
            <a:picLocks noChangeAspect="1"/>
          </p:cNvPicPr>
          <p:nvPr/>
        </p:nvPicPr>
        <p:blipFill>
          <a:blip r:embed="rId3"/>
          <a:stretch>
            <a:fillRect/>
          </a:stretch>
        </p:blipFill>
        <p:spPr>
          <a:xfrm>
            <a:off x="6094476" y="2546392"/>
            <a:ext cx="5108670" cy="3505593"/>
          </a:xfrm>
          <a:prstGeom prst="rect">
            <a:avLst/>
          </a:prstGeom>
        </p:spPr>
      </p:pic>
    </p:spTree>
    <p:extLst>
      <p:ext uri="{BB962C8B-B14F-4D97-AF65-F5344CB8AC3E}">
        <p14:creationId xmlns:p14="http://schemas.microsoft.com/office/powerpoint/2010/main" val="1867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186543" y="1284514"/>
            <a:ext cx="9884228" cy="4247317"/>
          </a:xfrm>
          <a:prstGeom prst="rect">
            <a:avLst/>
          </a:prstGeom>
          <a:noFill/>
        </p:spPr>
        <p:txBody>
          <a:bodyPr wrap="square" rtlCol="0">
            <a:spAutoFit/>
          </a:bodyPr>
          <a:lstStyle/>
          <a:p>
            <a:r>
              <a:rPr lang="en-US" dirty="0"/>
              <a:t>Comeau, A. (2017). </a:t>
            </a:r>
            <a:r>
              <a:rPr lang="en-US" i="1" dirty="0"/>
              <a:t>MySQL explained</a:t>
            </a:r>
            <a:r>
              <a:rPr lang="en-US" dirty="0"/>
              <a:t>. </a:t>
            </a:r>
            <a:r>
              <a:rPr lang="en-US" dirty="0" err="1"/>
              <a:t>OSTraining</a:t>
            </a:r>
            <a:r>
              <a:rPr lang="en-US" dirty="0"/>
              <a:t>.</a:t>
            </a:r>
          </a:p>
          <a:p>
            <a:endParaRPr lang="en-US" dirty="0"/>
          </a:p>
          <a:p>
            <a:r>
              <a:rPr lang="en-US" dirty="0" err="1"/>
              <a:t>GeeksforGeeks</a:t>
            </a:r>
            <a:r>
              <a:rPr lang="en-US" dirty="0"/>
              <a:t>. (n.d.). SQL CASE statement. </a:t>
            </a:r>
            <a:r>
              <a:rPr lang="en-US" dirty="0">
                <a:hlinkClick r:id="rId2"/>
              </a:rPr>
              <a:t>https://www.geeksforgeeks.org/sql/sql-case-statement/</a:t>
            </a:r>
            <a:endParaRPr lang="en-US" dirty="0"/>
          </a:p>
          <a:p>
            <a:endParaRPr lang="en-US" dirty="0"/>
          </a:p>
          <a:p>
            <a:r>
              <a:rPr lang="en-US" dirty="0"/>
              <a:t>W3Resource. (n.d.). </a:t>
            </a:r>
            <a:r>
              <a:rPr lang="en-US" i="1" dirty="0"/>
              <a:t>SQL join tables with GROUP BY and ORDER BY</a:t>
            </a:r>
            <a:r>
              <a:rPr lang="en-US" dirty="0"/>
              <a:t>. </a:t>
            </a:r>
            <a:r>
              <a:rPr lang="en-US" dirty="0">
                <a:hlinkClick r:id="rId3"/>
              </a:rPr>
              <a:t>https://www.w3resource.com/sql/joins/joining-with-group-by-and-order-by.php</a:t>
            </a:r>
            <a:endParaRPr lang="en-US" dirty="0"/>
          </a:p>
          <a:p>
            <a:endParaRPr lang="en-US" dirty="0"/>
          </a:p>
          <a:p>
            <a:r>
              <a:rPr lang="en-US" dirty="0"/>
              <a:t>W3Schools. (n.d.). MySQL LIMIT clause. </a:t>
            </a:r>
            <a:r>
              <a:rPr lang="en-US" dirty="0">
                <a:hlinkClick r:id="rId4"/>
              </a:rPr>
              <a:t>https://www.w3schools.com/mysql/mysql_limit.asp</a:t>
            </a:r>
            <a:endParaRPr lang="en-US" dirty="0"/>
          </a:p>
          <a:p>
            <a:endParaRPr lang="en-US" dirty="0"/>
          </a:p>
          <a:p>
            <a:r>
              <a:rPr lang="en-US" dirty="0"/>
              <a:t>Image credit:</a:t>
            </a:r>
          </a:p>
          <a:p>
            <a:endParaRPr lang="en-US" dirty="0"/>
          </a:p>
          <a:p>
            <a:r>
              <a:rPr lang="en-US" dirty="0"/>
              <a:t>Ivantsov, V. (n.d.). Elegant wine still life with grapes [Photograph]. </a:t>
            </a:r>
            <a:r>
              <a:rPr lang="en-US" dirty="0">
                <a:hlinkClick r:id="rId5"/>
              </a:rPr>
              <a:t>https://www.pexels.com/photo/elegant-wine-still-life-with-grapes-34815861/</a:t>
            </a:r>
            <a:endParaRPr lang="en-US" dirty="0"/>
          </a:p>
          <a:p>
            <a:endParaRPr lang="en-US"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705</TotalTime>
  <Words>1376</Words>
  <Application>Microsoft Office PowerPoint</Application>
  <PresentationFormat>Widescreen</PresentationFormat>
  <Paragraphs>85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 (1 of 3)</vt:lpstr>
      <vt:lpstr>Finalized ERD (2 of 3)</vt:lpstr>
      <vt:lpstr>Finalized ERD (3 of 3)</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Weekly Hours for Employees: Python Code</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Carolina Rodriguez</cp:lastModifiedBy>
  <cp:revision>13</cp:revision>
  <dcterms:created xsi:type="dcterms:W3CDTF">2025-12-10T02:37:12Z</dcterms:created>
  <dcterms:modified xsi:type="dcterms:W3CDTF">2025-12-18T04:57:52Z</dcterms:modified>
</cp:coreProperties>
</file>