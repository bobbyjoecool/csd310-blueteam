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9" r:id="rId1"/>
  </p:sldMasterIdLst>
  <p:sldIdLst>
    <p:sldId id="256" r:id="rId2"/>
    <p:sldId id="257" r:id="rId3"/>
    <p:sldId id="259" r:id="rId4"/>
    <p:sldId id="260" r:id="rId5"/>
    <p:sldId id="261" r:id="rId6"/>
    <p:sldId id="274" r:id="rId7"/>
    <p:sldId id="275" r:id="rId8"/>
    <p:sldId id="262" r:id="rId9"/>
    <p:sldId id="280" r:id="rId10"/>
    <p:sldId id="281" r:id="rId11"/>
    <p:sldId id="263" r:id="rId12"/>
    <p:sldId id="282" r:id="rId13"/>
    <p:sldId id="278" r:id="rId14"/>
    <p:sldId id="279" r:id="rId15"/>
    <p:sldId id="283" r:id="rId16"/>
    <p:sldId id="267" r:id="rId17"/>
    <p:sldId id="268" r:id="rId18"/>
    <p:sldId id="28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7676"/>
    <a:srgbClr val="9505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73AEC8-B2BE-4104-AC26-E5F7FC3F0A0C}" v="116" dt="2025-12-15T04:03:53.9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64"/>
    <p:restoredTop sz="94708"/>
  </p:normalViewPr>
  <p:slideViewPr>
    <p:cSldViewPr snapToGrid="0">
      <p:cViewPr varScale="1">
        <p:scale>
          <a:sx n="54" d="100"/>
          <a:sy n="54" d="100"/>
        </p:scale>
        <p:origin x="72"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White" userId="90c98b8f7e12d39a" providerId="LiveId" clId="{3CE43467-31F5-4633-8366-A087F1CE4F57}"/>
    <pc:docChg chg="undo redo custSel modSld">
      <pc:chgData name="Sara White" userId="90c98b8f7e12d39a" providerId="LiveId" clId="{3CE43467-31F5-4633-8366-A087F1CE4F57}" dt="2025-12-15T04:04:01.082" v="226" actId="20577"/>
      <pc:docMkLst>
        <pc:docMk/>
      </pc:docMkLst>
      <pc:sldChg chg="modSp mod setBg">
        <pc:chgData name="Sara White" userId="90c98b8f7e12d39a" providerId="LiveId" clId="{3CE43467-31F5-4633-8366-A087F1CE4F57}" dt="2025-12-15T03:18:29.662" v="171" actId="1076"/>
        <pc:sldMkLst>
          <pc:docMk/>
          <pc:sldMk cId="2819651921" sldId="260"/>
        </pc:sldMkLst>
        <pc:spChg chg="mod">
          <ac:chgData name="Sara White" userId="90c98b8f7e12d39a" providerId="LiveId" clId="{3CE43467-31F5-4633-8366-A087F1CE4F57}" dt="2025-12-15T03:18:29.662" v="171" actId="1076"/>
          <ac:spMkLst>
            <pc:docMk/>
            <pc:sldMk cId="2819651921" sldId="260"/>
            <ac:spMk id="3" creationId="{0951E944-941C-0DCA-8D64-B5CF97866493}"/>
          </ac:spMkLst>
        </pc:spChg>
      </pc:sldChg>
      <pc:sldChg chg="modSp mod">
        <pc:chgData name="Sara White" userId="90c98b8f7e12d39a" providerId="LiveId" clId="{3CE43467-31F5-4633-8366-A087F1CE4F57}" dt="2025-12-15T03:20:26.956" v="185" actId="115"/>
        <pc:sldMkLst>
          <pc:docMk/>
          <pc:sldMk cId="4088206094" sldId="262"/>
        </pc:sldMkLst>
        <pc:spChg chg="mod">
          <ac:chgData name="Sara White" userId="90c98b8f7e12d39a" providerId="LiveId" clId="{3CE43467-31F5-4633-8366-A087F1CE4F57}" dt="2025-12-15T03:20:26.956" v="185" actId="115"/>
          <ac:spMkLst>
            <pc:docMk/>
            <pc:sldMk cId="4088206094" sldId="262"/>
            <ac:spMk id="9" creationId="{342268BF-72C9-3F2E-A87E-04F0214403FA}"/>
          </ac:spMkLst>
        </pc:spChg>
      </pc:sldChg>
      <pc:sldChg chg="modSp mod">
        <pc:chgData name="Sara White" userId="90c98b8f7e12d39a" providerId="LiveId" clId="{3CE43467-31F5-4633-8366-A087F1CE4F57}" dt="2025-12-15T03:21:15.581" v="195" actId="14100"/>
        <pc:sldMkLst>
          <pc:docMk/>
          <pc:sldMk cId="1783303385" sldId="263"/>
        </pc:sldMkLst>
        <pc:spChg chg="mod">
          <ac:chgData name="Sara White" userId="90c98b8f7e12d39a" providerId="LiveId" clId="{3CE43467-31F5-4633-8366-A087F1CE4F57}" dt="2025-12-15T03:21:15.581" v="195" actId="14100"/>
          <ac:spMkLst>
            <pc:docMk/>
            <pc:sldMk cId="1783303385" sldId="263"/>
            <ac:spMk id="2" creationId="{50C5C3CB-3C64-6AC6-CB4C-70EA66F8D59F}"/>
          </ac:spMkLst>
        </pc:spChg>
        <pc:picChg chg="mod">
          <ac:chgData name="Sara White" userId="90c98b8f7e12d39a" providerId="LiveId" clId="{3CE43467-31F5-4633-8366-A087F1CE4F57}" dt="2025-12-15T03:21:15.136" v="194" actId="14100"/>
          <ac:picMkLst>
            <pc:docMk/>
            <pc:sldMk cId="1783303385" sldId="263"/>
            <ac:picMk id="12" creationId="{D82E970E-148C-C450-FFB6-87667ACD60F3}"/>
          </ac:picMkLst>
        </pc:picChg>
      </pc:sldChg>
      <pc:sldChg chg="modSp mod">
        <pc:chgData name="Sara White" userId="90c98b8f7e12d39a" providerId="LiveId" clId="{3CE43467-31F5-4633-8366-A087F1CE4F57}" dt="2025-12-15T03:21:20.016" v="197" actId="115"/>
        <pc:sldMkLst>
          <pc:docMk/>
          <pc:sldMk cId="2082686722" sldId="280"/>
        </pc:sldMkLst>
        <pc:spChg chg="mod">
          <ac:chgData name="Sara White" userId="90c98b8f7e12d39a" providerId="LiveId" clId="{3CE43467-31F5-4633-8366-A087F1CE4F57}" dt="2025-12-15T03:21:20.016" v="197" actId="115"/>
          <ac:spMkLst>
            <pc:docMk/>
            <pc:sldMk cId="2082686722" sldId="280"/>
            <ac:spMk id="4" creationId="{632D5CB6-6600-12B8-CDBA-81D7AE3EB062}"/>
          </ac:spMkLst>
        </pc:spChg>
      </pc:sldChg>
      <pc:sldChg chg="modSp mod">
        <pc:chgData name="Sara White" userId="90c98b8f7e12d39a" providerId="LiveId" clId="{3CE43467-31F5-4633-8366-A087F1CE4F57}" dt="2025-12-15T03:20:02.171" v="183" actId="20577"/>
        <pc:sldMkLst>
          <pc:docMk/>
          <pc:sldMk cId="3569497535" sldId="281"/>
        </pc:sldMkLst>
        <pc:spChg chg="mod">
          <ac:chgData name="Sara White" userId="90c98b8f7e12d39a" providerId="LiveId" clId="{3CE43467-31F5-4633-8366-A087F1CE4F57}" dt="2025-12-15T03:20:02.171" v="183" actId="20577"/>
          <ac:spMkLst>
            <pc:docMk/>
            <pc:sldMk cId="3569497535" sldId="281"/>
            <ac:spMk id="12" creationId="{06F552BB-E579-CEFA-4524-A94D046120C7}"/>
          </ac:spMkLst>
        </pc:spChg>
        <pc:spChg chg="mod">
          <ac:chgData name="Sara White" userId="90c98b8f7e12d39a" providerId="LiveId" clId="{3CE43467-31F5-4633-8366-A087F1CE4F57}" dt="2025-12-15T03:19:51.261" v="180" actId="113"/>
          <ac:spMkLst>
            <pc:docMk/>
            <pc:sldMk cId="3569497535" sldId="281"/>
            <ac:spMk id="14" creationId="{D52188C2-5F50-6D9E-415A-9573134B4E75}"/>
          </ac:spMkLst>
        </pc:spChg>
        <pc:picChg chg="mod">
          <ac:chgData name="Sara White" userId="90c98b8f7e12d39a" providerId="LiveId" clId="{3CE43467-31F5-4633-8366-A087F1CE4F57}" dt="2025-12-15T03:19:32.941" v="176" actId="14100"/>
          <ac:picMkLst>
            <pc:docMk/>
            <pc:sldMk cId="3569497535" sldId="281"/>
            <ac:picMk id="4" creationId="{EEA6E54A-7679-A57B-B11F-C96F89CD2740}"/>
          </ac:picMkLst>
        </pc:picChg>
      </pc:sldChg>
      <pc:sldChg chg="addSp modSp mod">
        <pc:chgData name="Sara White" userId="90c98b8f7e12d39a" providerId="LiveId" clId="{3CE43467-31F5-4633-8366-A087F1CE4F57}" dt="2025-12-15T04:04:01.082" v="226" actId="20577"/>
        <pc:sldMkLst>
          <pc:docMk/>
          <pc:sldMk cId="1820326033" sldId="284"/>
        </pc:sldMkLst>
        <pc:spChg chg="add mod">
          <ac:chgData name="Sara White" userId="90c98b8f7e12d39a" providerId="LiveId" clId="{3CE43467-31F5-4633-8366-A087F1CE4F57}" dt="2025-12-15T04:04:01.082" v="226" actId="20577"/>
          <ac:spMkLst>
            <pc:docMk/>
            <pc:sldMk cId="1820326033" sldId="284"/>
            <ac:spMk id="3" creationId="{C63C4EE5-6C87-19EF-A5D3-FAFB31F167E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12/14/2025</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3133843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605288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750857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88884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573389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749838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308260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1621332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2969602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81319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05501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12/14/2025</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39537944"/>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8" r:id="rId6"/>
    <p:sldLayoutId id="2147483773" r:id="rId7"/>
    <p:sldLayoutId id="2147483774" r:id="rId8"/>
    <p:sldLayoutId id="2147483775" r:id="rId9"/>
    <p:sldLayoutId id="2147483777" r:id="rId10"/>
    <p:sldLayoutId id="2147483776"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w3resource.com/sql/joins/joining-with-group-by-and-order-by.php" TargetMode="External"/><Relationship Id="rId2" Type="http://schemas.openxmlformats.org/officeDocument/2006/relationships/hyperlink" Target="https://www.geeksforgeeks.org/sql/sql-case-statement/" TargetMode="External"/><Relationship Id="rId1" Type="http://schemas.openxmlformats.org/officeDocument/2006/relationships/slideLayout" Target="../slideLayouts/slideLayout1.xml"/><Relationship Id="rId5" Type="http://schemas.openxmlformats.org/officeDocument/2006/relationships/hyperlink" Target="https://www.pexels.com/photo/elegant-wine-still-life-with-grapes-34815861/" TargetMode="External"/><Relationship Id="rId4" Type="http://schemas.openxmlformats.org/officeDocument/2006/relationships/hyperlink" Target="https://www.w3schools.com/mysql/mysql_limit.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05924-FB51-DA83-4E42-EF179C3E0990}"/>
              </a:ext>
            </a:extLst>
          </p:cNvPr>
          <p:cNvSpPr>
            <a:spLocks noGrp="1"/>
          </p:cNvSpPr>
          <p:nvPr>
            <p:ph type="ctrTitle"/>
          </p:nvPr>
        </p:nvSpPr>
        <p:spPr>
          <a:xfrm>
            <a:off x="1078991" y="893935"/>
            <a:ext cx="5364937" cy="3339390"/>
          </a:xfrm>
        </p:spPr>
        <p:txBody>
          <a:bodyPr anchor="ctr">
            <a:normAutofit/>
          </a:bodyPr>
          <a:lstStyle/>
          <a:p>
            <a:r>
              <a:rPr lang="en-US" sz="6000" dirty="0"/>
              <a:t>Bacchus Winery Case Study</a:t>
            </a:r>
          </a:p>
        </p:txBody>
      </p:sp>
      <p:sp>
        <p:nvSpPr>
          <p:cNvPr id="3" name="Subtitle 2">
            <a:extLst>
              <a:ext uri="{FF2B5EF4-FFF2-40B4-BE49-F238E27FC236}">
                <a16:creationId xmlns:a16="http://schemas.microsoft.com/office/drawing/2014/main" id="{5BC571FC-C4CF-A9B9-6D7A-AE4BCCA2773A}"/>
              </a:ext>
            </a:extLst>
          </p:cNvPr>
          <p:cNvSpPr>
            <a:spLocks noGrp="1"/>
          </p:cNvSpPr>
          <p:nvPr>
            <p:ph type="subTitle" idx="1"/>
          </p:nvPr>
        </p:nvSpPr>
        <p:spPr>
          <a:xfrm>
            <a:off x="1140407" y="3526430"/>
            <a:ext cx="5364936" cy="909848"/>
          </a:xfrm>
        </p:spPr>
        <p:txBody>
          <a:bodyPr anchor="t">
            <a:normAutofit/>
          </a:bodyPr>
          <a:lstStyle/>
          <a:p>
            <a:r>
              <a:rPr lang="en-US" dirty="0"/>
              <a:t>CSD310 – Database Development &amp; Use</a:t>
            </a:r>
          </a:p>
          <a:p>
            <a:r>
              <a:rPr lang="en-US" dirty="0"/>
              <a:t>Professor Susan Sampson</a:t>
            </a:r>
          </a:p>
        </p:txBody>
      </p:sp>
      <p:pic>
        <p:nvPicPr>
          <p:cNvPr id="4" name="Picture 3">
            <a:extLst>
              <a:ext uri="{FF2B5EF4-FFF2-40B4-BE49-F238E27FC236}">
                <a16:creationId xmlns:a16="http://schemas.microsoft.com/office/drawing/2014/main" id="{03F2FB7D-2540-A845-156B-66FD81531957}"/>
              </a:ext>
            </a:extLst>
          </p:cNvPr>
          <p:cNvPicPr>
            <a:picLocks noChangeAspect="1"/>
          </p:cNvPicPr>
          <p:nvPr/>
        </p:nvPicPr>
        <p:blipFill>
          <a:blip r:embed="rId2"/>
          <a:srcRect t="6166" b="6166"/>
          <a:stretch/>
        </p:blipFill>
        <p:spPr>
          <a:xfrm>
            <a:off x="6976934" y="10"/>
            <a:ext cx="5215066" cy="6857990"/>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
        <p:nvSpPr>
          <p:cNvPr id="5" name="Subtitle 2">
            <a:extLst>
              <a:ext uri="{FF2B5EF4-FFF2-40B4-BE49-F238E27FC236}">
                <a16:creationId xmlns:a16="http://schemas.microsoft.com/office/drawing/2014/main" id="{A2A4EC72-A1F9-65D7-3B79-0A7395723C56}"/>
              </a:ext>
            </a:extLst>
          </p:cNvPr>
          <p:cNvSpPr txBox="1">
            <a:spLocks/>
          </p:cNvSpPr>
          <p:nvPr/>
        </p:nvSpPr>
        <p:spPr>
          <a:xfrm>
            <a:off x="4519829" y="5845538"/>
            <a:ext cx="3520586" cy="969264"/>
          </a:xfrm>
          <a:prstGeom prst="rect">
            <a:avLst/>
          </a:prstGeom>
        </p:spPr>
        <p:txBody>
          <a:bodyPr vert="horz" lIns="91440" tIns="45720" rIns="91440" bIns="45720" rtlCol="0" anchor="t">
            <a:normAutofit/>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000" dirty="0">
              <a:solidFill>
                <a:srgbClr val="FFFFFF"/>
              </a:solidFill>
            </a:endParaRPr>
          </a:p>
        </p:txBody>
      </p:sp>
      <p:sp>
        <p:nvSpPr>
          <p:cNvPr id="7" name="TextBox 6">
            <a:extLst>
              <a:ext uri="{FF2B5EF4-FFF2-40B4-BE49-F238E27FC236}">
                <a16:creationId xmlns:a16="http://schemas.microsoft.com/office/drawing/2014/main" id="{8D6D9C14-3AC2-7FC4-B66D-DF87A3CE92C3}"/>
              </a:ext>
            </a:extLst>
          </p:cNvPr>
          <p:cNvSpPr txBox="1"/>
          <p:nvPr/>
        </p:nvSpPr>
        <p:spPr>
          <a:xfrm>
            <a:off x="1140407" y="5116808"/>
            <a:ext cx="2374843" cy="923330"/>
          </a:xfrm>
          <a:prstGeom prst="rect">
            <a:avLst/>
          </a:prstGeom>
          <a:noFill/>
        </p:spPr>
        <p:txBody>
          <a:bodyPr wrap="square">
            <a:spAutoFit/>
          </a:bodyPr>
          <a:lstStyle/>
          <a:p>
            <a:r>
              <a:rPr lang="en-US" sz="1800" dirty="0">
                <a:solidFill>
                  <a:srgbClr val="FFFFFF"/>
                </a:solidFill>
              </a:rPr>
              <a:t>Robert Breutzmann</a:t>
            </a:r>
          </a:p>
          <a:p>
            <a:r>
              <a:rPr lang="en-US" sz="1800" dirty="0">
                <a:solidFill>
                  <a:srgbClr val="FFFFFF"/>
                </a:solidFill>
              </a:rPr>
              <a:t>Carolina Rodriguez</a:t>
            </a:r>
          </a:p>
          <a:p>
            <a:r>
              <a:rPr lang="en-US" sz="1800" dirty="0">
                <a:solidFill>
                  <a:srgbClr val="FFFFFF"/>
                </a:solidFill>
              </a:rPr>
              <a:t>Sara White</a:t>
            </a:r>
          </a:p>
        </p:txBody>
      </p:sp>
      <p:sp>
        <p:nvSpPr>
          <p:cNvPr id="8" name="TextBox 7">
            <a:extLst>
              <a:ext uri="{FF2B5EF4-FFF2-40B4-BE49-F238E27FC236}">
                <a16:creationId xmlns:a16="http://schemas.microsoft.com/office/drawing/2014/main" id="{3686635D-644E-F4EE-2977-C86507845B99}"/>
              </a:ext>
            </a:extLst>
          </p:cNvPr>
          <p:cNvSpPr txBox="1"/>
          <p:nvPr/>
        </p:nvSpPr>
        <p:spPr>
          <a:xfrm>
            <a:off x="1140408" y="4665595"/>
            <a:ext cx="3535045" cy="461665"/>
          </a:xfrm>
          <a:prstGeom prst="rect">
            <a:avLst/>
          </a:prstGeom>
          <a:noFill/>
        </p:spPr>
        <p:txBody>
          <a:bodyPr wrap="square" rtlCol="0">
            <a:spAutoFit/>
          </a:bodyPr>
          <a:lstStyle/>
          <a:p>
            <a:r>
              <a:rPr lang="en-US" sz="2400" dirty="0">
                <a:solidFill>
                  <a:srgbClr val="0070C0"/>
                </a:solidFill>
              </a:rPr>
              <a:t>BLUE TEAM:</a:t>
            </a:r>
          </a:p>
        </p:txBody>
      </p:sp>
    </p:spTree>
    <p:extLst>
      <p:ext uri="{BB962C8B-B14F-4D97-AF65-F5344CB8AC3E}">
        <p14:creationId xmlns:p14="http://schemas.microsoft.com/office/powerpoint/2010/main" val="281137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A65A4D-39F3-F73E-4FA4-78098103EAA1}"/>
              </a:ext>
            </a:extLst>
          </p:cNvPr>
          <p:cNvSpPr>
            <a:spLocks noGrp="1"/>
          </p:cNvSpPr>
          <p:nvPr>
            <p:ph type="title"/>
          </p:nvPr>
        </p:nvSpPr>
        <p:spPr>
          <a:xfrm>
            <a:off x="1068497" y="1063256"/>
            <a:ext cx="5312254" cy="1540106"/>
          </a:xfrm>
        </p:spPr>
        <p:txBody>
          <a:bodyPr vert="horz" lIns="91440" tIns="45720" rIns="91440" bIns="45720" rtlCol="0">
            <a:normAutofit/>
          </a:bodyPr>
          <a:lstStyle/>
          <a:p>
            <a:r>
              <a:rPr lang="en-US" sz="5100" dirty="0"/>
              <a:t>Group Introduction</a:t>
            </a:r>
          </a:p>
        </p:txBody>
      </p:sp>
      <p:cxnSp>
        <p:nvCxnSpPr>
          <p:cNvPr id="33" name="Straight Connector 32">
            <a:extLst>
              <a:ext uri="{FF2B5EF4-FFF2-40B4-BE49-F238E27FC236}">
                <a16:creationId xmlns:a16="http://schemas.microsoft.com/office/drawing/2014/main" id="{33862825-C012-4895-A17E-F3D1F62D89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836406-71A0-907A-D000-4133FEC9A9CB}"/>
              </a:ext>
            </a:extLst>
          </p:cNvPr>
          <p:cNvSpPr>
            <a:spLocks noGrp="1"/>
          </p:cNvSpPr>
          <p:nvPr>
            <p:ph idx="1"/>
          </p:nvPr>
        </p:nvSpPr>
        <p:spPr>
          <a:xfrm>
            <a:off x="1068496" y="2212622"/>
            <a:ext cx="5704835" cy="3582117"/>
          </a:xfrm>
        </p:spPr>
        <p:txBody>
          <a:bodyPr vert="horz" lIns="91440" tIns="45720" rIns="91440" bIns="45720" rtlCol="0">
            <a:normAutofit/>
          </a:bodyPr>
          <a:lstStyle/>
          <a:p>
            <a:pPr marL="0" indent="0">
              <a:lnSpc>
                <a:spcPct val="100000"/>
              </a:lnSpc>
              <a:buNone/>
            </a:pPr>
            <a:r>
              <a:rPr lang="en-US" sz="1400" dirty="0"/>
              <a:t>We are part of Team Blue and for our case study we decided to choose the Bacchus Winery Case. Our team members are Robert, Sara and Carolina.</a:t>
            </a:r>
          </a:p>
          <a:p>
            <a:pPr marL="0" indent="0">
              <a:lnSpc>
                <a:spcPct val="100000"/>
              </a:lnSpc>
              <a:buNone/>
            </a:pPr>
            <a:r>
              <a:rPr lang="en-US" sz="1400" dirty="0"/>
              <a:t>Robert contributed the business rules, the initial ERD, and prepared a report for how many hours each employee worked during the last quarter.</a:t>
            </a:r>
          </a:p>
          <a:p>
            <a:pPr marL="0" indent="0">
              <a:lnSpc>
                <a:spcPct val="100000"/>
              </a:lnSpc>
              <a:buNone/>
            </a:pPr>
            <a:r>
              <a:rPr lang="en-US" sz="1400" dirty="0"/>
              <a:t>Sara contributed updates to the initial ERD and database, while preparing a report on supplies delivery time and any gap between expected delivery. </a:t>
            </a:r>
          </a:p>
          <a:p>
            <a:pPr marL="0" indent="0">
              <a:lnSpc>
                <a:spcPct val="100000"/>
              </a:lnSpc>
              <a:buNone/>
            </a:pPr>
            <a:r>
              <a:rPr lang="en-US" sz="1400" dirty="0"/>
              <a:t> Carolina contributed updates to the business rules and initial ERD and prepared a report on which distributor orders which wine, which wine sold, and which didn’t. </a:t>
            </a:r>
          </a:p>
          <a:p>
            <a:pPr marL="0" indent="0">
              <a:lnSpc>
                <a:spcPct val="100000"/>
              </a:lnSpc>
              <a:buNone/>
            </a:pPr>
            <a:r>
              <a:rPr lang="en-US" sz="1400" dirty="0"/>
              <a:t>Together we prepared this presentation and took note on the assumptions we made during this project.</a:t>
            </a:r>
          </a:p>
          <a:p>
            <a:pPr marL="0" indent="0">
              <a:lnSpc>
                <a:spcPct val="100000"/>
              </a:lnSpc>
              <a:buNone/>
            </a:pPr>
            <a:endParaRPr lang="en-US" sz="1100" dirty="0"/>
          </a:p>
        </p:txBody>
      </p:sp>
      <p:sp>
        <p:nvSpPr>
          <p:cNvPr id="34" name="Freeform: Shape 33">
            <a:extLst>
              <a:ext uri="{FF2B5EF4-FFF2-40B4-BE49-F238E27FC236}">
                <a16:creationId xmlns:a16="http://schemas.microsoft.com/office/drawing/2014/main" id="{F76C355F-28BE-46B1-9B8D-5D71A48155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76934" y="0"/>
            <a:ext cx="5215066" cy="6858000"/>
          </a:xfrm>
          <a:custGeom>
            <a:avLst/>
            <a:gdLst>
              <a:gd name="connsiteX0" fmla="*/ 2017353 w 5215066"/>
              <a:gd name="connsiteY0" fmla="*/ 0 h 6858000"/>
              <a:gd name="connsiteX1" fmla="*/ 5215066 w 5215066"/>
              <a:gd name="connsiteY1" fmla="*/ 0 h 6858000"/>
              <a:gd name="connsiteX2" fmla="*/ 5215066 w 5215066"/>
              <a:gd name="connsiteY2" fmla="*/ 6858000 h 6858000"/>
              <a:gd name="connsiteX3" fmla="*/ 1292431 w 5215066"/>
              <a:gd name="connsiteY3" fmla="*/ 6858000 h 6858000"/>
              <a:gd name="connsiteX4" fmla="*/ 1012702 w 5215066"/>
              <a:gd name="connsiteY4" fmla="*/ 6549681 h 6858000"/>
              <a:gd name="connsiteX5" fmla="*/ 0 w 5215066"/>
              <a:gd name="connsiteY5" fmla="*/ 3723759 h 6858000"/>
              <a:gd name="connsiteX6" fmla="*/ 1955279 w 5215066"/>
              <a:gd name="connsiteY6" fmla="*/ 3986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Graphic 3" descr="Users with solid fill">
            <a:extLst>
              <a:ext uri="{FF2B5EF4-FFF2-40B4-BE49-F238E27FC236}">
                <a16:creationId xmlns:a16="http://schemas.microsoft.com/office/drawing/2014/main" id="{572D8266-3849-5F66-9DAB-EAD5777BF529}"/>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8150087" y="1663890"/>
            <a:ext cx="3434963" cy="3434963"/>
          </a:xfrm>
          <a:prstGeom prst="rect">
            <a:avLst/>
          </a:prstGeom>
        </p:spPr>
      </p:pic>
      <p:sp>
        <p:nvSpPr>
          <p:cNvPr id="35"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845602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AB02BA-3FCA-F2BF-E99E-2E096790AC18}"/>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41113FF5-9B84-4A89-BF52-EA3C7E01A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9559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C3586B-3AD9-183E-D682-D363373C8BB9}"/>
              </a:ext>
            </a:extLst>
          </p:cNvPr>
          <p:cNvSpPr>
            <a:spLocks noGrp="1"/>
          </p:cNvSpPr>
          <p:nvPr>
            <p:ph type="title"/>
          </p:nvPr>
        </p:nvSpPr>
        <p:spPr>
          <a:xfrm>
            <a:off x="758952" y="420625"/>
            <a:ext cx="10667998" cy="1326814"/>
          </a:xfrm>
        </p:spPr>
        <p:txBody>
          <a:bodyPr vert="horz" lIns="91440" tIns="45720" rIns="91440" bIns="45720" rtlCol="0" anchor="ctr">
            <a:normAutofit/>
          </a:bodyPr>
          <a:lstStyle/>
          <a:p>
            <a:r>
              <a:rPr lang="en-US" dirty="0">
                <a:solidFill>
                  <a:schemeClr val="bg1"/>
                </a:solidFill>
              </a:rPr>
              <a:t>Case Study Overview</a:t>
            </a:r>
          </a:p>
        </p:txBody>
      </p:sp>
      <p:sp>
        <p:nvSpPr>
          <p:cNvPr id="3" name="Content Placeholder 2">
            <a:extLst>
              <a:ext uri="{FF2B5EF4-FFF2-40B4-BE49-F238E27FC236}">
                <a16:creationId xmlns:a16="http://schemas.microsoft.com/office/drawing/2014/main" id="{D640CCE3-D4E2-713A-C6DB-8CFB4588A99F}"/>
              </a:ext>
            </a:extLst>
          </p:cNvPr>
          <p:cNvSpPr>
            <a:spLocks noGrp="1"/>
          </p:cNvSpPr>
          <p:nvPr>
            <p:ph idx="1"/>
          </p:nvPr>
        </p:nvSpPr>
        <p:spPr>
          <a:xfrm>
            <a:off x="4099454" y="2264471"/>
            <a:ext cx="7405511" cy="3793279"/>
          </a:xfrm>
        </p:spPr>
        <p:txBody>
          <a:bodyPr vert="horz" lIns="91440" tIns="45720" rIns="91440" bIns="45720" rtlCol="0" anchor="ctr">
            <a:normAutofit/>
          </a:bodyPr>
          <a:lstStyle/>
          <a:p>
            <a:pPr>
              <a:lnSpc>
                <a:spcPct val="100000"/>
              </a:lnSpc>
            </a:pPr>
            <a:r>
              <a:rPr lang="en-US" sz="1900" dirty="0"/>
              <a:t>The case study involves helping Bacchus Winery with their operations team by creating a database system to track suppliers, wine production, inventory, distribution and employee hours. The owners need accurate reports on supply deliveries, wine sales and employee work time to make sure their winery is running according to budget. </a:t>
            </a:r>
          </a:p>
          <a:p>
            <a:pPr>
              <a:lnSpc>
                <a:spcPct val="100000"/>
              </a:lnSpc>
            </a:pPr>
            <a:r>
              <a:rPr lang="en-US" sz="1900" dirty="0"/>
              <a:t>Our objective was to design a database structure, create exact reports and ensure data is clear for new decisions. </a:t>
            </a:r>
          </a:p>
          <a:p>
            <a:pPr marL="0" indent="0">
              <a:lnSpc>
                <a:spcPct val="100000"/>
              </a:lnSpc>
              <a:buNone/>
            </a:pPr>
            <a:endParaRPr lang="en-US" sz="1900" dirty="0"/>
          </a:p>
        </p:txBody>
      </p:sp>
      <p:pic>
        <p:nvPicPr>
          <p:cNvPr id="4" name="Graphic 3" descr="Closed book with solid fill">
            <a:extLst>
              <a:ext uri="{FF2B5EF4-FFF2-40B4-BE49-F238E27FC236}">
                <a16:creationId xmlns:a16="http://schemas.microsoft.com/office/drawing/2014/main" id="{DDD715AF-3E1D-5426-8458-E5F837FC6F56}"/>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237280" y="2184567"/>
            <a:ext cx="3793279" cy="3793279"/>
          </a:xfrm>
          <a:prstGeom prst="rect">
            <a:avLst/>
          </a:prstGeom>
        </p:spPr>
      </p:pic>
      <p:sp>
        <p:nvSpPr>
          <p:cNvPr id="48"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211566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35000">
              <a:schemeClr val="accent2">
                <a:lumMod val="50000"/>
              </a:schemeClr>
            </a:gs>
            <a:gs pos="100000">
              <a:schemeClr val="accent2"/>
            </a:gs>
          </a:gsLst>
          <a:lin ang="5400000" scaled="1"/>
        </a:gra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cxnSp>
        <p:nvCxnSpPr>
          <p:cNvPr id="14" name="Straight Connector 13">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7AF9319C-2D9B-4868-AEAE-37298EA0F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15066" cy="6858000"/>
          </a:xfrm>
          <a:custGeom>
            <a:avLst/>
            <a:gdLst>
              <a:gd name="connsiteX0" fmla="*/ 0 w 5215066"/>
              <a:gd name="connsiteY0" fmla="*/ 0 h 6858000"/>
              <a:gd name="connsiteX1" fmla="*/ 3197713 w 5215066"/>
              <a:gd name="connsiteY1" fmla="*/ 0 h 6858000"/>
              <a:gd name="connsiteX2" fmla="*/ 3259787 w 5215066"/>
              <a:gd name="connsiteY2" fmla="*/ 39865 h 6858000"/>
              <a:gd name="connsiteX3" fmla="*/ 5215066 w 5215066"/>
              <a:gd name="connsiteY3" fmla="*/ 3723759 h 6858000"/>
              <a:gd name="connsiteX4" fmla="*/ 4202364 w 5215066"/>
              <a:gd name="connsiteY4" fmla="*/ 6549681 h 6858000"/>
              <a:gd name="connsiteX5" fmla="*/ 3922635 w 5215066"/>
              <a:gd name="connsiteY5" fmla="*/ 6858000 h 6858000"/>
              <a:gd name="connsiteX6" fmla="*/ 0 w 52150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0" y="0"/>
                </a:moveTo>
                <a:lnTo>
                  <a:pt x="3197713" y="0"/>
                </a:lnTo>
                <a:lnTo>
                  <a:pt x="3259787" y="39865"/>
                </a:lnTo>
                <a:cubicBezTo>
                  <a:pt x="4439462" y="838237"/>
                  <a:pt x="5215066" y="2190263"/>
                  <a:pt x="5215066" y="3723759"/>
                </a:cubicBezTo>
                <a:cubicBezTo>
                  <a:pt x="5215066" y="4797206"/>
                  <a:pt x="4835020" y="5781733"/>
                  <a:pt x="4202364" y="6549681"/>
                </a:cubicBezTo>
                <a:lnTo>
                  <a:pt x="3922635" y="6858000"/>
                </a:lnTo>
                <a:lnTo>
                  <a:pt x="0" y="685800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B5B50BB-96FB-4CE0-E486-EDCD61427F65}"/>
              </a:ext>
            </a:extLst>
          </p:cNvPr>
          <p:cNvSpPr>
            <a:spLocks noGrp="1"/>
          </p:cNvSpPr>
          <p:nvPr>
            <p:ph type="title"/>
          </p:nvPr>
        </p:nvSpPr>
        <p:spPr>
          <a:xfrm>
            <a:off x="758952" y="1128811"/>
            <a:ext cx="3447288" cy="1648256"/>
          </a:xfrm>
        </p:spPr>
        <p:txBody>
          <a:bodyPr vert="horz" lIns="91440" tIns="45720" rIns="91440" bIns="45720" rtlCol="0" anchor="b">
            <a:normAutofit/>
          </a:bodyPr>
          <a:lstStyle/>
          <a:p>
            <a:r>
              <a:rPr lang="en-US" sz="4600" i="1" kern="1200" spc="100" baseline="0" dirty="0">
                <a:solidFill>
                  <a:schemeClr val="bg1"/>
                </a:solidFill>
                <a:latin typeface="+mj-lt"/>
                <a:ea typeface="+mj-ea"/>
                <a:cs typeface="+mj-cs"/>
              </a:rPr>
              <a:t>Key Database Requirements</a:t>
            </a:r>
          </a:p>
        </p:txBody>
      </p:sp>
      <p:sp>
        <p:nvSpPr>
          <p:cNvPr id="3" name="Content Placeholder 2">
            <a:extLst>
              <a:ext uri="{FF2B5EF4-FFF2-40B4-BE49-F238E27FC236}">
                <a16:creationId xmlns:a16="http://schemas.microsoft.com/office/drawing/2014/main" id="{0951E944-941C-0DCA-8D64-B5CF97866493}"/>
              </a:ext>
            </a:extLst>
          </p:cNvPr>
          <p:cNvSpPr>
            <a:spLocks noGrp="1"/>
          </p:cNvSpPr>
          <p:nvPr>
            <p:ph idx="1"/>
          </p:nvPr>
        </p:nvSpPr>
        <p:spPr>
          <a:xfrm>
            <a:off x="5215066" y="264659"/>
            <a:ext cx="6714997" cy="6038169"/>
          </a:xfrm>
        </p:spPr>
        <p:txBody>
          <a:bodyPr vert="horz" lIns="91440" tIns="45720" rIns="91440" bIns="45720" rtlCol="0" anchor="t">
            <a:noAutofit/>
          </a:bodyPr>
          <a:lstStyle/>
          <a:p>
            <a:pPr marL="0" indent="0">
              <a:lnSpc>
                <a:spcPct val="100000"/>
              </a:lnSpc>
              <a:buNone/>
            </a:pPr>
            <a:r>
              <a:rPr lang="en-US" sz="1600" b="1" dirty="0">
                <a:solidFill>
                  <a:schemeClr val="bg1"/>
                </a:solidFill>
              </a:rPr>
              <a:t>Business Rules:</a:t>
            </a:r>
          </a:p>
          <a:p>
            <a:pPr marL="457200" indent="-457200">
              <a:lnSpc>
                <a:spcPct val="100000"/>
              </a:lnSpc>
              <a:buFont typeface="+mj-lt"/>
              <a:buAutoNum type="arabicPeriod"/>
            </a:pPr>
            <a:endParaRPr lang="en-US" sz="1600" dirty="0">
              <a:solidFill>
                <a:schemeClr val="bg1"/>
              </a:solidFill>
            </a:endParaRPr>
          </a:p>
          <a:p>
            <a:pPr marL="457200" indent="-457200">
              <a:lnSpc>
                <a:spcPct val="100000"/>
              </a:lnSpc>
              <a:buFont typeface="+mj-lt"/>
              <a:buAutoNum type="arabicPeriod"/>
            </a:pPr>
            <a:r>
              <a:rPr lang="en-US" sz="1400" dirty="0">
                <a:solidFill>
                  <a:schemeClr val="bg1"/>
                </a:solidFill>
              </a:rPr>
              <a:t>Suppliers provide materials used in wine production, including bottles, corks, labels, boxes, vats, and tubing.</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distributor may carry multiple types of wine produced by Bacchus Winery.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distributor may carry multiple production years (batches) of each wine type.</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A distributor may place multiple orders with Bacchus Winery.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department may employ multiple employees.</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employee may work multiple days and hours, tracked over time.</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Bacchus Winery produces four types of wine: Merlot, Cabernet, Chablis, and Chardonnay.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wine type may have multiple batches, distinguished by the year produced.</a:t>
            </a:r>
          </a:p>
        </p:txBody>
      </p:sp>
      <p:pic>
        <p:nvPicPr>
          <p:cNvPr id="7" name="Graphic 6" descr="Database">
            <a:extLst>
              <a:ext uri="{FF2B5EF4-FFF2-40B4-BE49-F238E27FC236}">
                <a16:creationId xmlns:a16="http://schemas.microsoft.com/office/drawing/2014/main" id="{D3A55EB0-0F11-BFA5-FE35-9440F3D3AD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7809" y="2928416"/>
            <a:ext cx="3454987" cy="3454987"/>
          </a:xfrm>
          <a:prstGeom prst="rect">
            <a:avLst/>
          </a:prstGeom>
        </p:spPr>
      </p:pic>
      <p:sp>
        <p:nvSpPr>
          <p:cNvPr id="20"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81965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39A6233-FAFC-1B8E-F434-662821D45AE2}"/>
              </a:ext>
            </a:extLst>
          </p:cNvPr>
          <p:cNvSpPr/>
          <p:nvPr/>
        </p:nvSpPr>
        <p:spPr>
          <a:xfrm>
            <a:off x="-1524"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E6E803F3-3D08-381B-36A6-7F621931628B}"/>
              </a:ext>
            </a:extLst>
          </p:cNvPr>
          <p:cNvSpPr>
            <a:spLocks noGrp="1"/>
          </p:cNvSpPr>
          <p:nvPr>
            <p:ph type="title"/>
          </p:nvPr>
        </p:nvSpPr>
        <p:spPr>
          <a:xfrm>
            <a:off x="533174" y="189738"/>
            <a:ext cx="10671048" cy="1113423"/>
          </a:xfrm>
        </p:spPr>
        <p:txBody>
          <a:bodyPr anchor="ctr">
            <a:normAutofit/>
          </a:bodyPr>
          <a:lstStyle/>
          <a:p>
            <a:r>
              <a:rPr lang="en-US" dirty="0">
                <a:solidFill>
                  <a:schemeClr val="bg1"/>
                </a:solidFill>
              </a:rPr>
              <a:t>Finalized ERD (1 of 3)</a:t>
            </a:r>
            <a:endParaRPr lang="en-US" sz="2800" dirty="0">
              <a:solidFill>
                <a:schemeClr val="bg1"/>
              </a:solidFill>
            </a:endParaRPr>
          </a:p>
        </p:txBody>
      </p:sp>
      <p:pic>
        <p:nvPicPr>
          <p:cNvPr id="18" name="Picture 17" descr="A screenshot of a computer&#10;&#10;AI-generated content may be incorrect.">
            <a:extLst>
              <a:ext uri="{FF2B5EF4-FFF2-40B4-BE49-F238E27FC236}">
                <a16:creationId xmlns:a16="http://schemas.microsoft.com/office/drawing/2014/main" id="{6DA5359C-605D-EE17-A58A-22570D46ADD7}"/>
              </a:ext>
            </a:extLst>
          </p:cNvPr>
          <p:cNvPicPr>
            <a:picLocks noChangeAspect="1"/>
          </p:cNvPicPr>
          <p:nvPr/>
        </p:nvPicPr>
        <p:blipFill>
          <a:blip r:embed="rId2"/>
          <a:srcRect l="-138" t="11086" r="138" b="3666"/>
          <a:stretch>
            <a:fillRect/>
          </a:stretch>
        </p:blipFill>
        <p:spPr>
          <a:xfrm>
            <a:off x="1779849" y="1682636"/>
            <a:ext cx="8177697" cy="4579818"/>
          </a:xfrm>
          <a:prstGeom prst="rect">
            <a:avLst/>
          </a:prstGeom>
        </p:spPr>
      </p:pic>
    </p:spTree>
    <p:extLst>
      <p:ext uri="{BB962C8B-B14F-4D97-AF65-F5344CB8AC3E}">
        <p14:creationId xmlns:p14="http://schemas.microsoft.com/office/powerpoint/2010/main" val="51855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3976DB4-FE5A-0D66-8539-D0D188E2AB7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C051A2C-EC12-0E95-6DA7-285A38E1C26A}"/>
              </a:ext>
            </a:extLst>
          </p:cNvPr>
          <p:cNvSpPr/>
          <p:nvPr/>
        </p:nvSpPr>
        <p:spPr>
          <a:xfrm>
            <a:off x="0"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8E0B928B-573A-EAA3-61EA-DC11F372A79A}"/>
              </a:ext>
            </a:extLst>
          </p:cNvPr>
          <p:cNvSpPr>
            <a:spLocks noGrp="1"/>
          </p:cNvSpPr>
          <p:nvPr>
            <p:ph type="title"/>
          </p:nvPr>
        </p:nvSpPr>
        <p:spPr>
          <a:xfrm>
            <a:off x="758952" y="379475"/>
            <a:ext cx="10671048" cy="902915"/>
          </a:xfrm>
        </p:spPr>
        <p:txBody>
          <a:bodyPr anchor="ctr">
            <a:normAutofit fontScale="90000"/>
          </a:bodyPr>
          <a:lstStyle/>
          <a:p>
            <a:r>
              <a:rPr lang="en-US" dirty="0">
                <a:solidFill>
                  <a:schemeClr val="bg1"/>
                </a:solidFill>
              </a:rPr>
              <a:t>Finalized ERD (2 of 3)</a:t>
            </a:r>
            <a:endParaRPr lang="en-US" sz="2800" dirty="0">
              <a:solidFill>
                <a:schemeClr val="bg1"/>
              </a:solidFill>
            </a:endParaRPr>
          </a:p>
        </p:txBody>
      </p:sp>
      <p:pic>
        <p:nvPicPr>
          <p:cNvPr id="11" name="Picture 10" descr="A screenshot of a computer&#10;&#10;AI-generated content may be incorrect.">
            <a:extLst>
              <a:ext uri="{FF2B5EF4-FFF2-40B4-BE49-F238E27FC236}">
                <a16:creationId xmlns:a16="http://schemas.microsoft.com/office/drawing/2014/main" id="{C98789BE-5EE9-370C-275A-221F818C405D}"/>
              </a:ext>
            </a:extLst>
          </p:cNvPr>
          <p:cNvPicPr>
            <a:picLocks noChangeAspect="1"/>
          </p:cNvPicPr>
          <p:nvPr/>
        </p:nvPicPr>
        <p:blipFill>
          <a:blip r:embed="rId2"/>
          <a:stretch>
            <a:fillRect/>
          </a:stretch>
        </p:blipFill>
        <p:spPr>
          <a:xfrm>
            <a:off x="1236132" y="1661865"/>
            <a:ext cx="9719735" cy="4931613"/>
          </a:xfrm>
          <a:prstGeom prst="rect">
            <a:avLst/>
          </a:prstGeom>
        </p:spPr>
      </p:pic>
    </p:spTree>
    <p:extLst>
      <p:ext uri="{BB962C8B-B14F-4D97-AF65-F5344CB8AC3E}">
        <p14:creationId xmlns:p14="http://schemas.microsoft.com/office/powerpoint/2010/main" val="1029119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29946F-99FA-2F13-9BF5-33D4A97EC90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327E4DB-7875-83BA-8997-B5DF94E19E4E}"/>
              </a:ext>
            </a:extLst>
          </p:cNvPr>
          <p:cNvSpPr/>
          <p:nvPr/>
        </p:nvSpPr>
        <p:spPr>
          <a:xfrm>
            <a:off x="0"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7D1BBB75-045C-E716-8F03-DEDDC2493A80}"/>
              </a:ext>
            </a:extLst>
          </p:cNvPr>
          <p:cNvSpPr>
            <a:spLocks noGrp="1"/>
          </p:cNvSpPr>
          <p:nvPr>
            <p:ph type="title"/>
          </p:nvPr>
        </p:nvSpPr>
        <p:spPr>
          <a:xfrm>
            <a:off x="758952" y="379475"/>
            <a:ext cx="10671048" cy="1113423"/>
          </a:xfrm>
        </p:spPr>
        <p:txBody>
          <a:bodyPr anchor="ctr">
            <a:normAutofit/>
          </a:bodyPr>
          <a:lstStyle/>
          <a:p>
            <a:r>
              <a:rPr lang="en-US" dirty="0">
                <a:solidFill>
                  <a:schemeClr val="bg1"/>
                </a:solidFill>
              </a:rPr>
              <a:t>Finalized ERD (3 of 3)</a:t>
            </a:r>
            <a:endParaRPr lang="en-US" sz="2800" dirty="0">
              <a:solidFill>
                <a:schemeClr val="bg1"/>
              </a:solidFill>
            </a:endParaRPr>
          </a:p>
        </p:txBody>
      </p:sp>
      <p:pic>
        <p:nvPicPr>
          <p:cNvPr id="7" name="Picture 6" descr="A screenshot of a computer&#10;&#10;AI-generated content may be incorrect.">
            <a:extLst>
              <a:ext uri="{FF2B5EF4-FFF2-40B4-BE49-F238E27FC236}">
                <a16:creationId xmlns:a16="http://schemas.microsoft.com/office/drawing/2014/main" id="{FE2E6482-1135-0E0D-FBC7-B2B74EA0EFDB}"/>
              </a:ext>
            </a:extLst>
          </p:cNvPr>
          <p:cNvPicPr>
            <a:picLocks noChangeAspect="1"/>
          </p:cNvPicPr>
          <p:nvPr/>
        </p:nvPicPr>
        <p:blipFill>
          <a:blip r:embed="rId2"/>
          <a:stretch>
            <a:fillRect/>
          </a:stretch>
        </p:blipFill>
        <p:spPr>
          <a:xfrm>
            <a:off x="1302732" y="2297569"/>
            <a:ext cx="9583487" cy="3572374"/>
          </a:xfrm>
          <a:prstGeom prst="rect">
            <a:avLst/>
          </a:prstGeom>
        </p:spPr>
      </p:pic>
    </p:spTree>
    <p:extLst>
      <p:ext uri="{BB962C8B-B14F-4D97-AF65-F5344CB8AC3E}">
        <p14:creationId xmlns:p14="http://schemas.microsoft.com/office/powerpoint/2010/main" val="694260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6C6E1-8709-4A6F-9A09-49871B5E9388}"/>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(1 of 3)</a:t>
            </a:r>
          </a:p>
        </p:txBody>
      </p:sp>
      <p:pic>
        <p:nvPicPr>
          <p:cNvPr id="5" name="Picture 4" descr="A screenshot of a computer&#10;&#10;AI-generated content may be incorrect.">
            <a:extLst>
              <a:ext uri="{FF2B5EF4-FFF2-40B4-BE49-F238E27FC236}">
                <a16:creationId xmlns:a16="http://schemas.microsoft.com/office/drawing/2014/main" id="{F57F2904-5A43-ED80-FB31-4DE37A26BECE}"/>
              </a:ext>
            </a:extLst>
          </p:cNvPr>
          <p:cNvPicPr>
            <a:picLocks noChangeAspect="1"/>
          </p:cNvPicPr>
          <p:nvPr/>
        </p:nvPicPr>
        <p:blipFill>
          <a:blip r:embed="rId2"/>
          <a:stretch>
            <a:fillRect/>
          </a:stretch>
        </p:blipFill>
        <p:spPr>
          <a:xfrm>
            <a:off x="473733" y="1501194"/>
            <a:ext cx="3855611" cy="3855611"/>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6FA22AD2-37FC-628F-5F55-4E693F52E8F0}"/>
              </a:ext>
            </a:extLst>
          </p:cNvPr>
          <p:cNvPicPr>
            <a:picLocks noChangeAspect="1"/>
          </p:cNvPicPr>
          <p:nvPr/>
        </p:nvPicPr>
        <p:blipFill>
          <a:blip r:embed="rId3"/>
          <a:srcRect r="28631"/>
          <a:stretch>
            <a:fillRect/>
          </a:stretch>
        </p:blipFill>
        <p:spPr>
          <a:xfrm>
            <a:off x="4620296" y="1501194"/>
            <a:ext cx="3242362" cy="3986166"/>
          </a:xfrm>
          <a:prstGeom prst="rect">
            <a:avLst/>
          </a:prstGeom>
        </p:spPr>
      </p:pic>
      <p:sp>
        <p:nvSpPr>
          <p:cNvPr id="9" name="TextBox 8">
            <a:extLst>
              <a:ext uri="{FF2B5EF4-FFF2-40B4-BE49-F238E27FC236}">
                <a16:creationId xmlns:a16="http://schemas.microsoft.com/office/drawing/2014/main" id="{342268BF-72C9-3F2E-A87E-04F0214403FA}"/>
              </a:ext>
            </a:extLst>
          </p:cNvPr>
          <p:cNvSpPr txBox="1"/>
          <p:nvPr/>
        </p:nvSpPr>
        <p:spPr>
          <a:xfrm>
            <a:off x="8217568" y="1612232"/>
            <a:ext cx="3284621" cy="3693319"/>
          </a:xfrm>
          <a:prstGeom prst="rect">
            <a:avLst/>
          </a:prstGeom>
          <a:noFill/>
        </p:spPr>
        <p:txBody>
          <a:bodyPr wrap="square" rtlCol="0">
            <a:spAutoFit/>
          </a:bodyPr>
          <a:lstStyle/>
          <a:p>
            <a:r>
              <a:rPr lang="en-US" dirty="0"/>
              <a:t>This report provides data in three tables: the first table shows the wines carried by the distributors, the second shows the total amount sold for each type of wine, and the third table shows which wines haven’t sold at all.</a:t>
            </a:r>
          </a:p>
          <a:p>
            <a:endParaRPr lang="en-US" dirty="0"/>
          </a:p>
          <a:p>
            <a:r>
              <a:rPr lang="en-US" b="1" u="sng" dirty="0"/>
              <a:t>Use case</a:t>
            </a:r>
            <a:r>
              <a:rPr lang="en-US" dirty="0"/>
              <a:t>: Bacchus Winery can use this report for quick insight into which of their wines are best sellers.</a:t>
            </a:r>
          </a:p>
        </p:txBody>
      </p:sp>
    </p:spTree>
    <p:extLst>
      <p:ext uri="{BB962C8B-B14F-4D97-AF65-F5344CB8AC3E}">
        <p14:creationId xmlns:p14="http://schemas.microsoft.com/office/powerpoint/2010/main" val="4088206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a:extLst>
            <a:ext uri="{FF2B5EF4-FFF2-40B4-BE49-F238E27FC236}">
              <a16:creationId xmlns:a16="http://schemas.microsoft.com/office/drawing/2014/main" id="{C4A6C299-0380-DC40-F617-5C89561D2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8907E-BD73-1852-3D06-1F42763F9EAA}"/>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(2 of 3)</a:t>
            </a:r>
          </a:p>
        </p:txBody>
      </p:sp>
      <p:pic>
        <p:nvPicPr>
          <p:cNvPr id="3" name="Picture 2" descr="A screenshot of a computer&#10;&#10;AI-generated content may be incorrect.">
            <a:extLst>
              <a:ext uri="{FF2B5EF4-FFF2-40B4-BE49-F238E27FC236}">
                <a16:creationId xmlns:a16="http://schemas.microsoft.com/office/drawing/2014/main" id="{80116DCD-EC99-1984-5295-EAF299889DBA}"/>
              </a:ext>
            </a:extLst>
          </p:cNvPr>
          <p:cNvPicPr>
            <a:picLocks noChangeAspect="1"/>
          </p:cNvPicPr>
          <p:nvPr/>
        </p:nvPicPr>
        <p:blipFill>
          <a:blip r:embed="rId2"/>
          <a:stretch>
            <a:fillRect/>
          </a:stretch>
        </p:blipFill>
        <p:spPr>
          <a:xfrm>
            <a:off x="622719" y="1101997"/>
            <a:ext cx="7940728" cy="3033023"/>
          </a:xfrm>
          <a:prstGeom prst="rect">
            <a:avLst/>
          </a:prstGeom>
        </p:spPr>
      </p:pic>
      <p:sp>
        <p:nvSpPr>
          <p:cNvPr id="4" name="TextBox 3">
            <a:extLst>
              <a:ext uri="{FF2B5EF4-FFF2-40B4-BE49-F238E27FC236}">
                <a16:creationId xmlns:a16="http://schemas.microsoft.com/office/drawing/2014/main" id="{632D5CB6-6600-12B8-CDBA-81D7AE3EB062}"/>
              </a:ext>
            </a:extLst>
          </p:cNvPr>
          <p:cNvSpPr txBox="1"/>
          <p:nvPr/>
        </p:nvSpPr>
        <p:spPr>
          <a:xfrm>
            <a:off x="622719" y="4322616"/>
            <a:ext cx="10135821" cy="1815882"/>
          </a:xfrm>
          <a:prstGeom prst="rect">
            <a:avLst/>
          </a:prstGeom>
          <a:noFill/>
        </p:spPr>
        <p:txBody>
          <a:bodyPr wrap="square" rtlCol="0">
            <a:spAutoFit/>
          </a:bodyPr>
          <a:lstStyle/>
          <a:p>
            <a:r>
              <a:rPr lang="en-US" sz="1600" dirty="0"/>
              <a:t>This report highlights any differences between expected and actual delivery dates from suppliers. The </a:t>
            </a:r>
            <a:r>
              <a:rPr lang="en-US" sz="1600" b="1" dirty="0"/>
              <a:t>DaysDifference</a:t>
            </a:r>
            <a:r>
              <a:rPr lang="en-US" sz="1600" dirty="0"/>
              <a:t> column shows how many days the delivery is off from the anticipated delivery date, and the </a:t>
            </a:r>
            <a:r>
              <a:rPr lang="en-US" sz="1600" b="1" dirty="0"/>
              <a:t>DeliveryStatus</a:t>
            </a:r>
            <a:r>
              <a:rPr lang="en-US" sz="1600" dirty="0"/>
              <a:t> column states whether the delivery was early or on time.</a:t>
            </a:r>
          </a:p>
          <a:p>
            <a:endParaRPr lang="en-US" sz="1600" dirty="0"/>
          </a:p>
          <a:p>
            <a:r>
              <a:rPr lang="en-US" sz="1600" b="1" u="sng" dirty="0"/>
              <a:t>Use case</a:t>
            </a:r>
            <a:r>
              <a:rPr lang="en-US" sz="1600" dirty="0"/>
              <a:t>: Bacchus Winery can use this report to get a quick snapshot into which suppliers are routinely late with deliveries and which suppliers are early or on-time. This could help plan for expected delays with supplies necessary to package and distribute their wines.</a:t>
            </a:r>
          </a:p>
        </p:txBody>
      </p:sp>
    </p:spTree>
    <p:extLst>
      <p:ext uri="{BB962C8B-B14F-4D97-AF65-F5344CB8AC3E}">
        <p14:creationId xmlns:p14="http://schemas.microsoft.com/office/powerpoint/2010/main" val="2082686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a:extLst>
            <a:ext uri="{FF2B5EF4-FFF2-40B4-BE49-F238E27FC236}">
              <a16:creationId xmlns:a16="http://schemas.microsoft.com/office/drawing/2014/main" id="{C569CA1F-B8BC-9889-F4EB-543AB780F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BD79B-D232-3C37-9EE4-562540C018C1}"/>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(3 of 3)</a:t>
            </a:r>
          </a:p>
        </p:txBody>
      </p:sp>
      <p:pic>
        <p:nvPicPr>
          <p:cNvPr id="4" name="Picture 3" descr="A screenshot of a computer program&#10;&#10;AI-generated content may be incorrect.">
            <a:extLst>
              <a:ext uri="{FF2B5EF4-FFF2-40B4-BE49-F238E27FC236}">
                <a16:creationId xmlns:a16="http://schemas.microsoft.com/office/drawing/2014/main" id="{EEA6E54A-7679-A57B-B11F-C96F89CD2740}"/>
              </a:ext>
            </a:extLst>
          </p:cNvPr>
          <p:cNvPicPr>
            <a:picLocks noChangeAspect="1"/>
          </p:cNvPicPr>
          <p:nvPr/>
        </p:nvPicPr>
        <p:blipFill>
          <a:blip r:embed="rId2"/>
          <a:stretch>
            <a:fillRect/>
          </a:stretch>
        </p:blipFill>
        <p:spPr>
          <a:xfrm>
            <a:off x="567973" y="3794235"/>
            <a:ext cx="4832614" cy="2769521"/>
          </a:xfrm>
          <a:prstGeom prst="rect">
            <a:avLst/>
          </a:prstGeom>
        </p:spPr>
      </p:pic>
      <p:grpSp>
        <p:nvGrpSpPr>
          <p:cNvPr id="13" name="Group 12">
            <a:extLst>
              <a:ext uri="{FF2B5EF4-FFF2-40B4-BE49-F238E27FC236}">
                <a16:creationId xmlns:a16="http://schemas.microsoft.com/office/drawing/2014/main" id="{966B3F0C-F9B1-E11D-20D4-5A050CC17DEC}"/>
              </a:ext>
            </a:extLst>
          </p:cNvPr>
          <p:cNvGrpSpPr/>
          <p:nvPr/>
        </p:nvGrpSpPr>
        <p:grpSpPr>
          <a:xfrm>
            <a:off x="5696607" y="1173199"/>
            <a:ext cx="5087008" cy="3576254"/>
            <a:chOff x="5759668" y="911663"/>
            <a:chExt cx="5290958" cy="4133850"/>
          </a:xfrm>
        </p:grpSpPr>
        <p:pic>
          <p:nvPicPr>
            <p:cNvPr id="7" name="Picture 6" descr="A screenshot of a computer&#10;&#10;AI-generated content may be incorrect.">
              <a:extLst>
                <a:ext uri="{FF2B5EF4-FFF2-40B4-BE49-F238E27FC236}">
                  <a16:creationId xmlns:a16="http://schemas.microsoft.com/office/drawing/2014/main" id="{EF5D33AC-6120-8133-C19B-F9E405C11BBF}"/>
                </a:ext>
              </a:extLst>
            </p:cNvPr>
            <p:cNvPicPr>
              <a:picLocks noChangeAspect="1"/>
            </p:cNvPicPr>
            <p:nvPr/>
          </p:nvPicPr>
          <p:blipFill>
            <a:blip r:embed="rId3"/>
            <a:stretch>
              <a:fillRect/>
            </a:stretch>
          </p:blipFill>
          <p:spPr>
            <a:xfrm>
              <a:off x="5759668" y="914401"/>
              <a:ext cx="2542715" cy="4131112"/>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5833ACE0-C93E-00EC-F796-56D099334191}"/>
                </a:ext>
              </a:extLst>
            </p:cNvPr>
            <p:cNvPicPr>
              <a:picLocks noChangeAspect="1"/>
            </p:cNvPicPr>
            <p:nvPr/>
          </p:nvPicPr>
          <p:blipFill>
            <a:blip r:embed="rId4"/>
            <a:stretch>
              <a:fillRect/>
            </a:stretch>
          </p:blipFill>
          <p:spPr>
            <a:xfrm>
              <a:off x="8544680" y="911663"/>
              <a:ext cx="2505946" cy="4133850"/>
            </a:xfrm>
            <a:prstGeom prst="rect">
              <a:avLst/>
            </a:prstGeom>
          </p:spPr>
        </p:pic>
      </p:grpSp>
      <p:sp>
        <p:nvSpPr>
          <p:cNvPr id="12" name="TextBox 11">
            <a:extLst>
              <a:ext uri="{FF2B5EF4-FFF2-40B4-BE49-F238E27FC236}">
                <a16:creationId xmlns:a16="http://schemas.microsoft.com/office/drawing/2014/main" id="{06F552BB-E579-CEFA-4524-A94D046120C7}"/>
              </a:ext>
            </a:extLst>
          </p:cNvPr>
          <p:cNvSpPr txBox="1"/>
          <p:nvPr/>
        </p:nvSpPr>
        <p:spPr>
          <a:xfrm>
            <a:off x="499876" y="1365125"/>
            <a:ext cx="4963774" cy="2462213"/>
          </a:xfrm>
          <a:prstGeom prst="rect">
            <a:avLst/>
          </a:prstGeom>
          <a:noFill/>
        </p:spPr>
        <p:txBody>
          <a:bodyPr wrap="square" rtlCol="0">
            <a:spAutoFit/>
          </a:bodyPr>
          <a:lstStyle/>
          <a:p>
            <a:r>
              <a:rPr lang="en-US" sz="1400" dirty="0"/>
              <a:t>This report was generated to show the average number of hours worked per week by each individual employee. This report uses a dataset for a time period of one month, but could easily be expanded into quarterly or yearly averages.</a:t>
            </a:r>
          </a:p>
          <a:p>
            <a:r>
              <a:rPr lang="en-US" sz="1400" dirty="0"/>
              <a:t> </a:t>
            </a:r>
          </a:p>
          <a:p>
            <a:r>
              <a:rPr lang="en-US" sz="1400" dirty="0"/>
              <a:t>Three outputs are produced: the first is a list of each employee’s ID, followed by their name and average hours worked; the next table shows hours worked by each employee in descending order, and the last organizes this information by the employees last name (alphabetical).</a:t>
            </a:r>
          </a:p>
          <a:p>
            <a:endParaRPr lang="en-US" sz="1400" dirty="0"/>
          </a:p>
        </p:txBody>
      </p:sp>
      <p:sp>
        <p:nvSpPr>
          <p:cNvPr id="14" name="TextBox 13">
            <a:extLst>
              <a:ext uri="{FF2B5EF4-FFF2-40B4-BE49-F238E27FC236}">
                <a16:creationId xmlns:a16="http://schemas.microsoft.com/office/drawing/2014/main" id="{D52188C2-5F50-6D9E-415A-9573134B4E75}"/>
              </a:ext>
            </a:extLst>
          </p:cNvPr>
          <p:cNvSpPr txBox="1"/>
          <p:nvPr/>
        </p:nvSpPr>
        <p:spPr>
          <a:xfrm>
            <a:off x="5633544" y="4884706"/>
            <a:ext cx="5349765" cy="1200329"/>
          </a:xfrm>
          <a:prstGeom prst="rect">
            <a:avLst/>
          </a:prstGeom>
          <a:noFill/>
        </p:spPr>
        <p:txBody>
          <a:bodyPr wrap="square" rtlCol="0">
            <a:spAutoFit/>
          </a:bodyPr>
          <a:lstStyle/>
          <a:p>
            <a:r>
              <a:rPr lang="en-US" b="1" u="sng" dirty="0"/>
              <a:t>Use case</a:t>
            </a:r>
            <a:r>
              <a:rPr lang="en-US" dirty="0"/>
              <a:t>: Bacchus Winery can use this report to budget for payroll, monitor department productivity, and gain business insight based on the hours expended for each department.</a:t>
            </a:r>
          </a:p>
        </p:txBody>
      </p:sp>
    </p:spTree>
    <p:extLst>
      <p:ext uri="{BB962C8B-B14F-4D97-AF65-F5344CB8AC3E}">
        <p14:creationId xmlns:p14="http://schemas.microsoft.com/office/powerpoint/2010/main" val="3569497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5C3CB-3C64-6AC6-CB4C-70EA66F8D59F}"/>
              </a:ext>
            </a:extLst>
          </p:cNvPr>
          <p:cNvSpPr>
            <a:spLocks noGrp="1"/>
          </p:cNvSpPr>
          <p:nvPr>
            <p:ph type="title"/>
          </p:nvPr>
        </p:nvSpPr>
        <p:spPr>
          <a:xfrm>
            <a:off x="5980386" y="113377"/>
            <a:ext cx="4685939" cy="1148264"/>
          </a:xfrm>
        </p:spPr>
        <p:txBody>
          <a:bodyPr anchor="ctr">
            <a:normAutofit fontScale="90000"/>
          </a:bodyPr>
          <a:lstStyle/>
          <a:p>
            <a:r>
              <a:rPr lang="en-US" sz="4400" dirty="0">
                <a:solidFill>
                  <a:schemeClr val="bg1"/>
                </a:solidFill>
              </a:rPr>
              <a:t>Report Generation: Python Code</a:t>
            </a:r>
          </a:p>
        </p:txBody>
      </p:sp>
      <p:sp>
        <p:nvSpPr>
          <p:cNvPr id="10" name="TextBox 9">
            <a:extLst>
              <a:ext uri="{FF2B5EF4-FFF2-40B4-BE49-F238E27FC236}">
                <a16:creationId xmlns:a16="http://schemas.microsoft.com/office/drawing/2014/main" id="{C9903A82-C8A3-3C1F-2690-1E747EB8255C}"/>
              </a:ext>
            </a:extLst>
          </p:cNvPr>
          <p:cNvSpPr txBox="1"/>
          <p:nvPr/>
        </p:nvSpPr>
        <p:spPr>
          <a:xfrm>
            <a:off x="5980386" y="1671145"/>
            <a:ext cx="5762131" cy="4247317"/>
          </a:xfrm>
          <a:prstGeom prst="rect">
            <a:avLst/>
          </a:prstGeom>
          <a:noFill/>
        </p:spPr>
        <p:txBody>
          <a:bodyPr wrap="square" rtlCol="0">
            <a:spAutoFit/>
          </a:bodyPr>
          <a:lstStyle/>
          <a:p>
            <a:r>
              <a:rPr lang="en-US" dirty="0"/>
              <a:t>Our reports were generated and formatted with this initial block of code which securely loads the database credentials utilizing the </a:t>
            </a:r>
            <a:r>
              <a:rPr lang="en-US" dirty="0">
                <a:latin typeface="OCR A Extended" panose="02010509020102010303" pitchFamily="50" charset="0"/>
              </a:rPr>
              <a:t>dotenv</a:t>
            </a:r>
            <a:r>
              <a:rPr lang="en-US" dirty="0"/>
              <a:t> Python library. This reads sensitive information, like usernames and passwords, from the locally stored </a:t>
            </a:r>
            <a:r>
              <a:rPr lang="en-US" dirty="0">
                <a:latin typeface="OCR A Extended" panose="02010509020102010303" pitchFamily="50" charset="0"/>
              </a:rPr>
              <a:t>setup.env</a:t>
            </a:r>
            <a:r>
              <a:rPr lang="en-US" dirty="0"/>
              <a:t>.</a:t>
            </a:r>
          </a:p>
          <a:p>
            <a:endParaRPr lang="en-US" dirty="0"/>
          </a:p>
          <a:p>
            <a:r>
              <a:rPr lang="en-US" dirty="0"/>
              <a:t>The config dictionary stores the settings necessary to connect to MySQL. The </a:t>
            </a:r>
            <a:r>
              <a:rPr lang="en-US" dirty="0">
                <a:latin typeface="OCR A Extended" panose="02010509020102010303" pitchFamily="50" charset="0"/>
              </a:rPr>
              <a:t>printAlignedData() </a:t>
            </a:r>
            <a:r>
              <a:rPr lang="en-US" dirty="0"/>
              <a:t>function extracts the column headers from </a:t>
            </a:r>
            <a:r>
              <a:rPr lang="en-US" dirty="0">
                <a:latin typeface="OCR A Extended" panose="02010509020102010303" pitchFamily="50" charset="0"/>
              </a:rPr>
              <a:t>cursor.description</a:t>
            </a:r>
            <a:r>
              <a:rPr lang="en-US" dirty="0"/>
              <a:t>, converts the data to strings and then formats the data for readability.</a:t>
            </a:r>
          </a:p>
          <a:p>
            <a:endParaRPr lang="en-US" dirty="0"/>
          </a:p>
          <a:p>
            <a:r>
              <a:rPr lang="en-US" dirty="0"/>
              <a:t>The following slides will contain screenshots of the code unique to each report.</a:t>
            </a:r>
          </a:p>
        </p:txBody>
      </p:sp>
      <p:pic>
        <p:nvPicPr>
          <p:cNvPr id="12" name="Picture 11" descr="A screenshot of a computer program&#10;&#10;AI-generated content may be incorrect.">
            <a:extLst>
              <a:ext uri="{FF2B5EF4-FFF2-40B4-BE49-F238E27FC236}">
                <a16:creationId xmlns:a16="http://schemas.microsoft.com/office/drawing/2014/main" id="{D82E970E-148C-C450-FFB6-87667ACD60F3}"/>
              </a:ext>
            </a:extLst>
          </p:cNvPr>
          <p:cNvPicPr>
            <a:picLocks noChangeAspect="1"/>
          </p:cNvPicPr>
          <p:nvPr/>
        </p:nvPicPr>
        <p:blipFill>
          <a:blip r:embed="rId2"/>
          <a:stretch>
            <a:fillRect/>
          </a:stretch>
        </p:blipFill>
        <p:spPr>
          <a:xfrm>
            <a:off x="369856" y="943004"/>
            <a:ext cx="5192111" cy="5594491"/>
          </a:xfrm>
          <a:prstGeom prst="rect">
            <a:avLst/>
          </a:prstGeom>
        </p:spPr>
      </p:pic>
    </p:spTree>
    <p:extLst>
      <p:ext uri="{BB962C8B-B14F-4D97-AF65-F5344CB8AC3E}">
        <p14:creationId xmlns:p14="http://schemas.microsoft.com/office/powerpoint/2010/main" val="1783303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C9AE7BC6-14F9-0C76-219B-B0CB4CCDB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F00CB-D9AB-B19F-C9E2-63F0410DA940}"/>
              </a:ext>
            </a:extLst>
          </p:cNvPr>
          <p:cNvSpPr>
            <a:spLocks noGrp="1"/>
          </p:cNvSpPr>
          <p:nvPr>
            <p:ph type="title"/>
          </p:nvPr>
        </p:nvSpPr>
        <p:spPr>
          <a:xfrm>
            <a:off x="758952" y="379475"/>
            <a:ext cx="10671048" cy="1113659"/>
          </a:xfrm>
        </p:spPr>
        <p:txBody>
          <a:bodyPr anchor="ctr">
            <a:normAutofit fontScale="90000"/>
          </a:bodyPr>
          <a:lstStyle/>
          <a:p>
            <a:r>
              <a:rPr lang="en-US" sz="5100" dirty="0">
                <a:solidFill>
                  <a:schemeClr val="bg1"/>
                </a:solidFill>
              </a:rPr>
              <a:t>Wines Carried by Distributors and Bestsellers: Python Code</a:t>
            </a:r>
          </a:p>
        </p:txBody>
      </p:sp>
      <p:pic>
        <p:nvPicPr>
          <p:cNvPr id="4" name="Picture 3" descr="A computer screen shot of a black screen&#10;&#10;AI-generated content may be incorrect.">
            <a:extLst>
              <a:ext uri="{FF2B5EF4-FFF2-40B4-BE49-F238E27FC236}">
                <a16:creationId xmlns:a16="http://schemas.microsoft.com/office/drawing/2014/main" id="{B9C3FDAE-CBEA-B9BE-7B1B-9890E326EA73}"/>
              </a:ext>
            </a:extLst>
          </p:cNvPr>
          <p:cNvPicPr>
            <a:picLocks noChangeAspect="1"/>
          </p:cNvPicPr>
          <p:nvPr/>
        </p:nvPicPr>
        <p:blipFill>
          <a:blip r:embed="rId2"/>
          <a:stretch>
            <a:fillRect/>
          </a:stretch>
        </p:blipFill>
        <p:spPr>
          <a:xfrm>
            <a:off x="1195915" y="1628438"/>
            <a:ext cx="4900085" cy="4762913"/>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42805491-C4D7-3DA6-110D-E895F92D6077}"/>
              </a:ext>
            </a:extLst>
          </p:cNvPr>
          <p:cNvPicPr>
            <a:picLocks noChangeAspect="1"/>
          </p:cNvPicPr>
          <p:nvPr/>
        </p:nvPicPr>
        <p:blipFill>
          <a:blip r:embed="rId3"/>
          <a:stretch>
            <a:fillRect/>
          </a:stretch>
        </p:blipFill>
        <p:spPr>
          <a:xfrm>
            <a:off x="6659693" y="1628438"/>
            <a:ext cx="4208934" cy="4762913"/>
          </a:xfrm>
          <a:prstGeom prst="rect">
            <a:avLst/>
          </a:prstGeom>
        </p:spPr>
      </p:pic>
    </p:spTree>
    <p:extLst>
      <p:ext uri="{BB962C8B-B14F-4D97-AF65-F5344CB8AC3E}">
        <p14:creationId xmlns:p14="http://schemas.microsoft.com/office/powerpoint/2010/main" val="2382836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A103A347-BBEF-725C-046C-6935C1E54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D34DA-1315-0B81-E324-8FD670334E84}"/>
              </a:ext>
            </a:extLst>
          </p:cNvPr>
          <p:cNvSpPr>
            <a:spLocks noGrp="1"/>
          </p:cNvSpPr>
          <p:nvPr>
            <p:ph type="title"/>
          </p:nvPr>
        </p:nvSpPr>
        <p:spPr>
          <a:xfrm>
            <a:off x="758952" y="379475"/>
            <a:ext cx="10671048" cy="1206257"/>
          </a:xfrm>
        </p:spPr>
        <p:txBody>
          <a:bodyPr anchor="ctr">
            <a:normAutofit fontScale="90000"/>
          </a:bodyPr>
          <a:lstStyle/>
          <a:p>
            <a:r>
              <a:rPr lang="en-US" sz="5100" dirty="0">
                <a:solidFill>
                  <a:schemeClr val="bg1"/>
                </a:solidFill>
              </a:rPr>
              <a:t>Expected vs Actual Supply Delivery: </a:t>
            </a:r>
            <a:br>
              <a:rPr lang="en-US" sz="5100" dirty="0">
                <a:solidFill>
                  <a:schemeClr val="bg1"/>
                </a:solidFill>
              </a:rPr>
            </a:br>
            <a:r>
              <a:rPr lang="en-US" sz="5100" dirty="0">
                <a:solidFill>
                  <a:schemeClr val="bg1"/>
                </a:solidFill>
              </a:rPr>
              <a:t>Python Code</a:t>
            </a:r>
          </a:p>
        </p:txBody>
      </p:sp>
      <p:pic>
        <p:nvPicPr>
          <p:cNvPr id="7" name="Picture 6" descr="A screen shot of a computer&#10;&#10;AI-generated content may be incorrect.">
            <a:extLst>
              <a:ext uri="{FF2B5EF4-FFF2-40B4-BE49-F238E27FC236}">
                <a16:creationId xmlns:a16="http://schemas.microsoft.com/office/drawing/2014/main" id="{F7B2F48A-17A6-A7BA-4973-D85D32122BBF}"/>
              </a:ext>
            </a:extLst>
          </p:cNvPr>
          <p:cNvPicPr>
            <a:picLocks noChangeAspect="1"/>
          </p:cNvPicPr>
          <p:nvPr/>
        </p:nvPicPr>
        <p:blipFill>
          <a:blip r:embed="rId2"/>
          <a:stretch>
            <a:fillRect/>
          </a:stretch>
        </p:blipFill>
        <p:spPr>
          <a:xfrm>
            <a:off x="638083" y="2052746"/>
            <a:ext cx="5456393" cy="3863675"/>
          </a:xfrm>
          <a:prstGeom prst="rect">
            <a:avLst/>
          </a:prstGeom>
        </p:spPr>
      </p:pic>
      <p:pic>
        <p:nvPicPr>
          <p:cNvPr id="9" name="Picture 8" descr="A screen shot of a computer program&#10;&#10;AI-generated content may be incorrect.">
            <a:extLst>
              <a:ext uri="{FF2B5EF4-FFF2-40B4-BE49-F238E27FC236}">
                <a16:creationId xmlns:a16="http://schemas.microsoft.com/office/drawing/2014/main" id="{958F74A8-3BB6-C4FB-7B2A-DE130201B6B8}"/>
              </a:ext>
            </a:extLst>
          </p:cNvPr>
          <p:cNvPicPr>
            <a:picLocks noChangeAspect="1"/>
          </p:cNvPicPr>
          <p:nvPr/>
        </p:nvPicPr>
        <p:blipFill>
          <a:blip r:embed="rId3"/>
          <a:stretch>
            <a:fillRect/>
          </a:stretch>
        </p:blipFill>
        <p:spPr>
          <a:xfrm>
            <a:off x="6387938" y="2052745"/>
            <a:ext cx="5042062" cy="3863675"/>
          </a:xfrm>
          <a:prstGeom prst="rect">
            <a:avLst/>
          </a:prstGeom>
        </p:spPr>
      </p:pic>
    </p:spTree>
    <p:extLst>
      <p:ext uri="{BB962C8B-B14F-4D97-AF65-F5344CB8AC3E}">
        <p14:creationId xmlns:p14="http://schemas.microsoft.com/office/powerpoint/2010/main" val="2531939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089BF250-2348-1C59-F002-33BF512B8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351ED-E3F9-FE32-37E2-2C580F4AFF82}"/>
              </a:ext>
            </a:extLst>
          </p:cNvPr>
          <p:cNvSpPr>
            <a:spLocks noGrp="1"/>
          </p:cNvSpPr>
          <p:nvPr>
            <p:ph type="title"/>
          </p:nvPr>
        </p:nvSpPr>
        <p:spPr>
          <a:xfrm>
            <a:off x="758952" y="379475"/>
            <a:ext cx="10671048" cy="1554480"/>
          </a:xfrm>
        </p:spPr>
        <p:txBody>
          <a:bodyPr anchor="ctr">
            <a:normAutofit/>
          </a:bodyPr>
          <a:lstStyle/>
          <a:p>
            <a:r>
              <a:rPr lang="en-US" sz="5100" dirty="0">
                <a:solidFill>
                  <a:schemeClr val="bg1"/>
                </a:solidFill>
              </a:rPr>
              <a:t>Average Weekly Hours for Employees: Python Code</a:t>
            </a:r>
          </a:p>
        </p:txBody>
      </p:sp>
      <p:pic>
        <p:nvPicPr>
          <p:cNvPr id="7" name="Picture 6" descr="A computer screen with white text&#10;&#10;AI-generated content may be incorrect.">
            <a:extLst>
              <a:ext uri="{FF2B5EF4-FFF2-40B4-BE49-F238E27FC236}">
                <a16:creationId xmlns:a16="http://schemas.microsoft.com/office/drawing/2014/main" id="{B15889D0-0FE9-EC25-291E-D5362AC496AC}"/>
              </a:ext>
            </a:extLst>
          </p:cNvPr>
          <p:cNvPicPr>
            <a:picLocks noChangeAspect="1"/>
          </p:cNvPicPr>
          <p:nvPr/>
        </p:nvPicPr>
        <p:blipFill>
          <a:blip r:embed="rId2"/>
          <a:stretch>
            <a:fillRect/>
          </a:stretch>
        </p:blipFill>
        <p:spPr>
          <a:xfrm>
            <a:off x="337185" y="2546392"/>
            <a:ext cx="5276537" cy="2377654"/>
          </a:xfrm>
          <a:prstGeom prst="rect">
            <a:avLst/>
          </a:prstGeom>
        </p:spPr>
      </p:pic>
      <p:pic>
        <p:nvPicPr>
          <p:cNvPr id="9" name="Picture 8" descr="A computer screen shot of a program&#10;&#10;AI-generated content may be incorrect.">
            <a:extLst>
              <a:ext uri="{FF2B5EF4-FFF2-40B4-BE49-F238E27FC236}">
                <a16:creationId xmlns:a16="http://schemas.microsoft.com/office/drawing/2014/main" id="{B3AFE3BA-1150-CAB7-D09D-4D4619EFF48A}"/>
              </a:ext>
            </a:extLst>
          </p:cNvPr>
          <p:cNvPicPr>
            <a:picLocks noChangeAspect="1"/>
          </p:cNvPicPr>
          <p:nvPr/>
        </p:nvPicPr>
        <p:blipFill>
          <a:blip r:embed="rId3"/>
          <a:stretch>
            <a:fillRect/>
          </a:stretch>
        </p:blipFill>
        <p:spPr>
          <a:xfrm>
            <a:off x="6094476" y="2546392"/>
            <a:ext cx="5108670" cy="3505593"/>
          </a:xfrm>
          <a:prstGeom prst="rect">
            <a:avLst/>
          </a:prstGeom>
        </p:spPr>
      </p:pic>
    </p:spTree>
    <p:extLst>
      <p:ext uri="{BB962C8B-B14F-4D97-AF65-F5344CB8AC3E}">
        <p14:creationId xmlns:p14="http://schemas.microsoft.com/office/powerpoint/2010/main" val="1867437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96000">
              <a:srgbClr val="FE7676"/>
            </a:gs>
            <a:gs pos="6000">
              <a:schemeClr val="tx1">
                <a:lumMod val="75000"/>
                <a:lumOff val="25000"/>
              </a:schemeClr>
            </a:gs>
            <a:gs pos="22000">
              <a:schemeClr val="bg2"/>
            </a:gs>
            <a:gs pos="51000">
              <a:schemeClr val="bg2">
                <a:lumMod val="60000"/>
                <a:lumOff val="40000"/>
              </a:schemeClr>
            </a:gs>
          </a:gsLst>
          <a:lin ang="5400000" scaled="1"/>
        </a:gradFill>
        <a:effectLst/>
      </p:bgPr>
    </p:bg>
    <p:spTree>
      <p:nvGrpSpPr>
        <p:cNvPr id="1" name="">
          <a:extLst>
            <a:ext uri="{FF2B5EF4-FFF2-40B4-BE49-F238E27FC236}">
              <a16:creationId xmlns:a16="http://schemas.microsoft.com/office/drawing/2014/main" id="{B50D4B91-7802-32CA-B0CC-0ACECD9B0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82C06-B42B-924C-18B9-2F4B4EE4B869}"/>
              </a:ext>
            </a:extLst>
          </p:cNvPr>
          <p:cNvSpPr>
            <a:spLocks noGrp="1"/>
          </p:cNvSpPr>
          <p:nvPr>
            <p:ph type="title"/>
          </p:nvPr>
        </p:nvSpPr>
        <p:spPr>
          <a:xfrm>
            <a:off x="677929" y="321602"/>
            <a:ext cx="10671048" cy="835867"/>
          </a:xfrm>
        </p:spPr>
        <p:txBody>
          <a:bodyPr anchor="ctr">
            <a:normAutofit/>
          </a:bodyPr>
          <a:lstStyle/>
          <a:p>
            <a:r>
              <a:rPr lang="en-US" sz="5100" dirty="0">
                <a:solidFill>
                  <a:schemeClr val="bg1"/>
                </a:solidFill>
              </a:rPr>
              <a:t>Assumptions:</a:t>
            </a:r>
          </a:p>
        </p:txBody>
      </p:sp>
      <p:sp>
        <p:nvSpPr>
          <p:cNvPr id="6" name="TextBox 5">
            <a:extLst>
              <a:ext uri="{FF2B5EF4-FFF2-40B4-BE49-F238E27FC236}">
                <a16:creationId xmlns:a16="http://schemas.microsoft.com/office/drawing/2014/main" id="{A729F6DD-BC64-51B0-83D1-B99EE7F9246D}"/>
              </a:ext>
            </a:extLst>
          </p:cNvPr>
          <p:cNvSpPr txBox="1"/>
          <p:nvPr/>
        </p:nvSpPr>
        <p:spPr>
          <a:xfrm>
            <a:off x="758952" y="1519640"/>
            <a:ext cx="10671048" cy="4524315"/>
          </a:xfrm>
          <a:prstGeom prst="rect">
            <a:avLst/>
          </a:prstGeom>
          <a:noFill/>
        </p:spPr>
        <p:txBody>
          <a:bodyPr wrap="square" rtlCol="0">
            <a:spAutoFit/>
          </a:bodyPr>
          <a:lstStyle/>
          <a:p>
            <a:r>
              <a:rPr lang="en-US" sz="1600" dirty="0"/>
              <a:t>We considered designing a table to keep inventory for the grapes produced by Bacchus Winery, but for the purpose of this case study, we assumed they already have their inventory in place for their grapes that they grow.</a:t>
            </a:r>
          </a:p>
          <a:p>
            <a:endParaRPr lang="en-US" sz="1600" dirty="0"/>
          </a:p>
          <a:p>
            <a:r>
              <a:rPr lang="en-US" sz="1600" dirty="0"/>
              <a:t>We assumed Bacchus Winery would want to keep detailed inventory of wine-making supplies and monitor the timeliness of deliveries from suppliers. Therefore, we created a Supplier table to store supplier information, a </a:t>
            </a:r>
            <a:r>
              <a:rPr lang="en-US" sz="1600" b="1" dirty="0"/>
              <a:t>SupplierDelivery</a:t>
            </a:r>
            <a:r>
              <a:rPr lang="en-US" sz="1600" dirty="0"/>
              <a:t> table to track the expected vs. actual delivery dates, and </a:t>
            </a:r>
            <a:r>
              <a:rPr lang="en-US" sz="1600" b="1" dirty="0"/>
              <a:t>SupplierItemDelivery</a:t>
            </a:r>
            <a:r>
              <a:rPr lang="en-US" sz="1600" dirty="0"/>
              <a:t> table to track orders with invoices and item information. The </a:t>
            </a:r>
            <a:r>
              <a:rPr lang="en-US" sz="1600" b="1" dirty="0"/>
              <a:t>SupplyItem</a:t>
            </a:r>
            <a:r>
              <a:rPr lang="en-US" sz="1600" dirty="0"/>
              <a:t> table contains the specific information on each item that's referenced by the other tables, and the </a:t>
            </a:r>
            <a:r>
              <a:rPr lang="en-US" sz="1600" b="1" dirty="0"/>
              <a:t>SupplyInventory</a:t>
            </a:r>
            <a:r>
              <a:rPr lang="en-US" sz="1600" dirty="0"/>
              <a:t> tracks the quantity of those items on hand.</a:t>
            </a:r>
          </a:p>
          <a:p>
            <a:endParaRPr lang="en-US" sz="1600" dirty="0"/>
          </a:p>
          <a:p>
            <a:r>
              <a:rPr lang="en-US" sz="1600" dirty="0"/>
              <a:t>The Wine Distribution portion of the ERD is similarly structured and keeps track of the distributors' information, the wines produced by Bacchus Winery (like the name, year produced, and type of wine) and the current wine inventory of Bacchus Winery. Information, like the year the wine was produced, is useful in determining which specific batches of a type of wine are selling better than others. </a:t>
            </a:r>
          </a:p>
          <a:p>
            <a:endParaRPr lang="en-US" sz="1600" dirty="0"/>
          </a:p>
          <a:p>
            <a:r>
              <a:rPr lang="en-US" sz="1600" dirty="0"/>
              <a:t>The Wine Distribution tables are connected to the distributors' orders and the shipment information for those orders. While our reports don't utilize the </a:t>
            </a:r>
            <a:r>
              <a:rPr lang="en-US" sz="1600" b="1" dirty="0"/>
              <a:t>ShipService</a:t>
            </a:r>
            <a:r>
              <a:rPr lang="en-US" sz="1600" dirty="0"/>
              <a:t> table, we felt it was useful to include that table for a fully realized database. For example, we assumed Bacchus Winery might want to monitor which shipping services deliver faster with less issues (like lost or damaged packages). </a:t>
            </a:r>
          </a:p>
        </p:txBody>
      </p:sp>
    </p:spTree>
    <p:extLst>
      <p:ext uri="{BB962C8B-B14F-4D97-AF65-F5344CB8AC3E}">
        <p14:creationId xmlns:p14="http://schemas.microsoft.com/office/powerpoint/2010/main" val="2070726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A62CE-7C70-5184-EAB7-0BD784F2E62B}"/>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Challenges and Resolutions</a:t>
            </a:r>
          </a:p>
        </p:txBody>
      </p:sp>
      <p:sp>
        <p:nvSpPr>
          <p:cNvPr id="6" name="TextBox 5">
            <a:extLst>
              <a:ext uri="{FF2B5EF4-FFF2-40B4-BE49-F238E27FC236}">
                <a16:creationId xmlns:a16="http://schemas.microsoft.com/office/drawing/2014/main" id="{A7796A33-563D-A1D7-62B9-814BC180274C}"/>
              </a:ext>
            </a:extLst>
          </p:cNvPr>
          <p:cNvSpPr txBox="1"/>
          <p:nvPr/>
        </p:nvSpPr>
        <p:spPr>
          <a:xfrm>
            <a:off x="891251" y="2083443"/>
            <a:ext cx="9294471" cy="3416320"/>
          </a:xfrm>
          <a:prstGeom prst="rect">
            <a:avLst/>
          </a:prstGeom>
          <a:noFill/>
        </p:spPr>
        <p:txBody>
          <a:bodyPr wrap="square" rtlCol="0">
            <a:spAutoFit/>
          </a:bodyPr>
          <a:lstStyle/>
          <a:p>
            <a:r>
              <a:rPr lang="en-US" dirty="0"/>
              <a:t>It was challenging to think of a winery's business model from all angles and accurately represent it with our database.  We initially didn’t account for the need to track the inventory of individual components for a wine business, like bottles, corks, tubing, etc., and had to revise our database design and ERD to include  a table to track those items. Other tables, like the ones tracking deliveries from suppliers and the shipments to distributors, were difficult to conceptualize in the beginning because there are so many steps in the supply chain and distribution process.</a:t>
            </a:r>
          </a:p>
          <a:p>
            <a:endParaRPr lang="en-US" dirty="0"/>
          </a:p>
          <a:p>
            <a:r>
              <a:rPr lang="en-US" dirty="0"/>
              <a:t>We thought it would be challenging to find a time that worked for all of us to meet and work on the project together, since we all have busy lives and jobs (and none of us are on the same schedule), however, we were able to meet consistently and communicate with ease.  </a:t>
            </a:r>
          </a:p>
        </p:txBody>
      </p:sp>
    </p:spTree>
    <p:extLst>
      <p:ext uri="{BB962C8B-B14F-4D97-AF65-F5344CB8AC3E}">
        <p14:creationId xmlns:p14="http://schemas.microsoft.com/office/powerpoint/2010/main" val="609625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2D766-775E-6702-6BEF-2E9A02262F4B}"/>
              </a:ext>
            </a:extLst>
          </p:cNvPr>
          <p:cNvSpPr>
            <a:spLocks noGrp="1"/>
          </p:cNvSpPr>
          <p:nvPr>
            <p:ph type="ctrTitle"/>
          </p:nvPr>
        </p:nvSpPr>
        <p:spPr>
          <a:xfrm>
            <a:off x="1078992" y="2840853"/>
            <a:ext cx="9390888" cy="2640466"/>
          </a:xfrm>
        </p:spPr>
        <p:txBody>
          <a:bodyPr>
            <a:normAutofit/>
          </a:bodyPr>
          <a:lstStyle/>
          <a:p>
            <a:r>
              <a:rPr lang="en-US" dirty="0"/>
              <a:t>Thanks for watching our presentation!</a:t>
            </a:r>
          </a:p>
        </p:txBody>
      </p:sp>
    </p:spTree>
    <p:extLst>
      <p:ext uri="{BB962C8B-B14F-4D97-AF65-F5344CB8AC3E}">
        <p14:creationId xmlns:p14="http://schemas.microsoft.com/office/powerpoint/2010/main" val="304216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a:extLst>
            <a:ext uri="{FF2B5EF4-FFF2-40B4-BE49-F238E27FC236}">
              <a16:creationId xmlns:a16="http://schemas.microsoft.com/office/drawing/2014/main" id="{8A31C75F-EC60-F43B-ABC9-696E6700B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867C6-4F3A-DF17-6901-6619DB915D58}"/>
              </a:ext>
            </a:extLst>
          </p:cNvPr>
          <p:cNvSpPr>
            <a:spLocks noGrp="1"/>
          </p:cNvSpPr>
          <p:nvPr>
            <p:ph type="ctrTitle"/>
          </p:nvPr>
        </p:nvSpPr>
        <p:spPr>
          <a:xfrm>
            <a:off x="1032693" y="421745"/>
            <a:ext cx="9390888" cy="1071390"/>
          </a:xfrm>
        </p:spPr>
        <p:txBody>
          <a:bodyPr>
            <a:normAutofit/>
          </a:bodyPr>
          <a:lstStyle/>
          <a:p>
            <a:r>
              <a:rPr lang="en-US" sz="3600" dirty="0"/>
              <a:t>References</a:t>
            </a:r>
          </a:p>
        </p:txBody>
      </p:sp>
      <p:sp>
        <p:nvSpPr>
          <p:cNvPr id="3" name="TextBox 2">
            <a:extLst>
              <a:ext uri="{FF2B5EF4-FFF2-40B4-BE49-F238E27FC236}">
                <a16:creationId xmlns:a16="http://schemas.microsoft.com/office/drawing/2014/main" id="{C63C4EE5-6C87-19EF-A5D3-FAFB31F167E2}"/>
              </a:ext>
            </a:extLst>
          </p:cNvPr>
          <p:cNvSpPr txBox="1"/>
          <p:nvPr/>
        </p:nvSpPr>
        <p:spPr>
          <a:xfrm>
            <a:off x="1186543" y="1284514"/>
            <a:ext cx="9884228" cy="4247317"/>
          </a:xfrm>
          <a:prstGeom prst="rect">
            <a:avLst/>
          </a:prstGeom>
          <a:noFill/>
        </p:spPr>
        <p:txBody>
          <a:bodyPr wrap="square" rtlCol="0">
            <a:spAutoFit/>
          </a:bodyPr>
          <a:lstStyle/>
          <a:p>
            <a:r>
              <a:rPr lang="en-US" dirty="0"/>
              <a:t>Comeau, A. (2017). </a:t>
            </a:r>
            <a:r>
              <a:rPr lang="en-US" i="1" dirty="0"/>
              <a:t>MySQL explained</a:t>
            </a:r>
            <a:r>
              <a:rPr lang="en-US" dirty="0"/>
              <a:t>. </a:t>
            </a:r>
            <a:r>
              <a:rPr lang="en-US" dirty="0" err="1"/>
              <a:t>OSTraining</a:t>
            </a:r>
            <a:r>
              <a:rPr lang="en-US" dirty="0"/>
              <a:t>.</a:t>
            </a:r>
          </a:p>
          <a:p>
            <a:endParaRPr lang="en-US" dirty="0"/>
          </a:p>
          <a:p>
            <a:r>
              <a:rPr lang="en-US" dirty="0" err="1"/>
              <a:t>GeeksforGeeks</a:t>
            </a:r>
            <a:r>
              <a:rPr lang="en-US" dirty="0"/>
              <a:t>. (n.d.). SQL CASE statement. </a:t>
            </a:r>
            <a:r>
              <a:rPr lang="en-US" dirty="0">
                <a:hlinkClick r:id="rId2"/>
              </a:rPr>
              <a:t>https://www.geeksforgeeks.org/sql/sql-case-statement/</a:t>
            </a:r>
            <a:endParaRPr lang="en-US" dirty="0"/>
          </a:p>
          <a:p>
            <a:endParaRPr lang="en-US" dirty="0"/>
          </a:p>
          <a:p>
            <a:r>
              <a:rPr lang="en-US" dirty="0"/>
              <a:t>W3Resource. (n.d.). </a:t>
            </a:r>
            <a:r>
              <a:rPr lang="en-US" i="1" dirty="0"/>
              <a:t>SQL join tables with GROUP BY and ORDER BY</a:t>
            </a:r>
            <a:r>
              <a:rPr lang="en-US" dirty="0"/>
              <a:t>. </a:t>
            </a:r>
            <a:r>
              <a:rPr lang="en-US" dirty="0">
                <a:hlinkClick r:id="rId3"/>
              </a:rPr>
              <a:t>https://www.w3resource.com/sql/joins/joining-with-group-by-and-order-by.php</a:t>
            </a:r>
            <a:endParaRPr lang="en-US" dirty="0"/>
          </a:p>
          <a:p>
            <a:endParaRPr lang="en-US" dirty="0"/>
          </a:p>
          <a:p>
            <a:r>
              <a:rPr lang="en-US" dirty="0"/>
              <a:t>W3Schools. (n.d.). MySQL LIMIT clause. </a:t>
            </a:r>
            <a:r>
              <a:rPr lang="en-US" dirty="0">
                <a:hlinkClick r:id="rId4"/>
              </a:rPr>
              <a:t>https://www.w3schools.com/mysql/mysql_limit.asp</a:t>
            </a:r>
            <a:endParaRPr lang="en-US" dirty="0"/>
          </a:p>
          <a:p>
            <a:endParaRPr lang="en-US" dirty="0"/>
          </a:p>
          <a:p>
            <a:r>
              <a:rPr lang="en-US" dirty="0"/>
              <a:t>Image credit:</a:t>
            </a:r>
          </a:p>
          <a:p>
            <a:endParaRPr lang="en-US" dirty="0"/>
          </a:p>
          <a:p>
            <a:r>
              <a:rPr lang="en-US" dirty="0"/>
              <a:t>Ivantsov, V. (n.d.). Elegant wine still life with grapes [Photograph]. </a:t>
            </a:r>
            <a:r>
              <a:rPr lang="en-US" dirty="0">
                <a:hlinkClick r:id="rId5"/>
              </a:rPr>
              <a:t>https://www.pexels.com/photo/elegant-wine-still-life-with-grapes-34815861/</a:t>
            </a:r>
            <a:endParaRPr lang="en-US" dirty="0"/>
          </a:p>
          <a:p>
            <a:endParaRPr lang="en-US" dirty="0"/>
          </a:p>
        </p:txBody>
      </p:sp>
    </p:spTree>
    <p:extLst>
      <p:ext uri="{BB962C8B-B14F-4D97-AF65-F5344CB8AC3E}">
        <p14:creationId xmlns:p14="http://schemas.microsoft.com/office/powerpoint/2010/main" val="182032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HeadlinesVTI">
  <a:themeElements>
    <a:clrScheme name="Custom 4">
      <a:dk1>
        <a:sysClr val="windowText" lastClr="000000"/>
      </a:dk1>
      <a:lt1>
        <a:sysClr val="window" lastClr="FFFFFF"/>
      </a:lt1>
      <a:dk2>
        <a:srgbClr val="000000"/>
      </a:dk2>
      <a:lt2>
        <a:srgbClr val="F59324"/>
      </a:lt2>
      <a:accent1>
        <a:srgbClr val="A90A4B"/>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docProps/app.xml><?xml version="1.0" encoding="utf-8"?>
<Properties xmlns="http://schemas.openxmlformats.org/officeDocument/2006/extended-properties" xmlns:vt="http://schemas.openxmlformats.org/officeDocument/2006/docPropsVTypes">
  <Template/>
  <TotalTime>350</TotalTime>
  <Words>1377</Words>
  <Application>Microsoft Office PowerPoint</Application>
  <PresentationFormat>Widescreen</PresentationFormat>
  <Paragraphs>84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Avenir Next LT Pro</vt:lpstr>
      <vt:lpstr>OCR A Extended</vt:lpstr>
      <vt:lpstr>Sitka Banner</vt:lpstr>
      <vt:lpstr>HeadlinesVTI</vt:lpstr>
      <vt:lpstr>Bacchus Winery Case Study</vt:lpstr>
      <vt:lpstr>Group Introduction</vt:lpstr>
      <vt:lpstr>Case Study Overview</vt:lpstr>
      <vt:lpstr>Key Database Requirements</vt:lpstr>
      <vt:lpstr>Finalized ERD (1 of 3)</vt:lpstr>
      <vt:lpstr>Finalized ERD (2 of 3)</vt:lpstr>
      <vt:lpstr>Finalized ERD (3 of 3)</vt:lpstr>
      <vt:lpstr>Reports selected for generation (1 of 3)</vt:lpstr>
      <vt:lpstr>Reports selected for generation (2 of 3)</vt:lpstr>
      <vt:lpstr>Reports selected for generation (3 of 3)</vt:lpstr>
      <vt:lpstr>Report Generation: Python Code</vt:lpstr>
      <vt:lpstr>Wines Carried by Distributors and Bestsellers: Python Code</vt:lpstr>
      <vt:lpstr>Expected vs Actual Supply Delivery:  Python Code</vt:lpstr>
      <vt:lpstr>Average Weekly Hours for Employees: Python Code</vt:lpstr>
      <vt:lpstr>Assumptions:</vt:lpstr>
      <vt:lpstr>Challenges and Resolutions</vt:lpstr>
      <vt:lpstr>Thanks for watching our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breutzmann</dc:creator>
  <cp:lastModifiedBy>Sara White</cp:lastModifiedBy>
  <cp:revision>6</cp:revision>
  <dcterms:created xsi:type="dcterms:W3CDTF">2025-12-10T02:37:12Z</dcterms:created>
  <dcterms:modified xsi:type="dcterms:W3CDTF">2025-12-15T04:04:02Z</dcterms:modified>
</cp:coreProperties>
</file>