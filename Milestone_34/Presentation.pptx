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79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64"/>
    <p:restoredTop sz="94708"/>
  </p:normalViewPr>
  <p:slideViewPr>
    <p:cSldViewPr snapToGrid="0">
      <p:cViewPr varScale="1">
        <p:scale>
          <a:sx n="95" d="100"/>
          <a:sy n="95" d="100"/>
        </p:scale>
        <p:origin x="192" y="7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00B1320-49C8-4750-84A0-D345F0FE28AE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234E9577-BFF7-4015-AAFC-38DA75F1EB4F}">
      <dgm:prSet/>
      <dgm:spPr/>
      <dgm:t>
        <a:bodyPr/>
        <a:lstStyle/>
        <a:p>
          <a:r>
            <a:rPr lang="en-US"/>
            <a:t>Report to show difference in expected delivery of supplies and actual delivery of supplies.</a:t>
          </a:r>
        </a:p>
      </dgm:t>
    </dgm:pt>
    <dgm:pt modelId="{6BABF852-1474-406B-A4FF-F0CB6C323AF0}" type="parTrans" cxnId="{11DD1FE6-5EED-4F9A-9470-9785C71C5A44}">
      <dgm:prSet/>
      <dgm:spPr/>
      <dgm:t>
        <a:bodyPr/>
        <a:lstStyle/>
        <a:p>
          <a:endParaRPr lang="en-US"/>
        </a:p>
      </dgm:t>
    </dgm:pt>
    <dgm:pt modelId="{35540099-73F9-4DE6-91D3-777E5F3CA14D}" type="sibTrans" cxnId="{11DD1FE6-5EED-4F9A-9470-9785C71C5A44}">
      <dgm:prSet/>
      <dgm:spPr/>
      <dgm:t>
        <a:bodyPr/>
        <a:lstStyle/>
        <a:p>
          <a:endParaRPr lang="en-US"/>
        </a:p>
      </dgm:t>
    </dgm:pt>
    <dgm:pt modelId="{5D87FA5D-52E3-413B-8DF1-A886314C76DF}">
      <dgm:prSet/>
      <dgm:spPr/>
      <dgm:t>
        <a:bodyPr/>
        <a:lstStyle/>
        <a:p>
          <a:r>
            <a:rPr lang="en-US"/>
            <a:t>Report to show what wines the distributors are selling more or less of over time.</a:t>
          </a:r>
        </a:p>
      </dgm:t>
    </dgm:pt>
    <dgm:pt modelId="{D75FF63A-4259-4A1C-9514-B2B2B19CA3DD}" type="parTrans" cxnId="{A7E00DD3-7FC0-4E67-A183-C04216F37D25}">
      <dgm:prSet/>
      <dgm:spPr/>
      <dgm:t>
        <a:bodyPr/>
        <a:lstStyle/>
        <a:p>
          <a:endParaRPr lang="en-US"/>
        </a:p>
      </dgm:t>
    </dgm:pt>
    <dgm:pt modelId="{FBBDCCCA-0FCF-4C3C-B78A-ECD4C15565B0}" type="sibTrans" cxnId="{A7E00DD3-7FC0-4E67-A183-C04216F37D25}">
      <dgm:prSet/>
      <dgm:spPr/>
      <dgm:t>
        <a:bodyPr/>
        <a:lstStyle/>
        <a:p>
          <a:endParaRPr lang="en-US"/>
        </a:p>
      </dgm:t>
    </dgm:pt>
    <dgm:pt modelId="{7E171F7E-D449-4BD2-93F8-B298EB3A2E50}">
      <dgm:prSet/>
      <dgm:spPr/>
      <dgm:t>
        <a:bodyPr/>
        <a:lstStyle/>
        <a:p>
          <a:r>
            <a:rPr lang="en-US"/>
            <a:t>Report to show average number of hours worked each week by employees over a period of time.</a:t>
          </a:r>
        </a:p>
      </dgm:t>
    </dgm:pt>
    <dgm:pt modelId="{103D1361-33BF-4AFC-B0D3-26561580C6DE}" type="parTrans" cxnId="{34743A2C-BCF0-4264-84B8-07BE57D6C20F}">
      <dgm:prSet/>
      <dgm:spPr/>
      <dgm:t>
        <a:bodyPr/>
        <a:lstStyle/>
        <a:p>
          <a:endParaRPr lang="en-US"/>
        </a:p>
      </dgm:t>
    </dgm:pt>
    <dgm:pt modelId="{0A55850B-ACD2-4EC3-8F58-F9A12822E288}" type="sibTrans" cxnId="{34743A2C-BCF0-4264-84B8-07BE57D6C20F}">
      <dgm:prSet/>
      <dgm:spPr/>
      <dgm:t>
        <a:bodyPr/>
        <a:lstStyle/>
        <a:p>
          <a:endParaRPr lang="en-US"/>
        </a:p>
      </dgm:t>
    </dgm:pt>
    <dgm:pt modelId="{E6945879-8777-4ED3-84C7-53EE9A42B8AF}" type="pres">
      <dgm:prSet presAssocID="{A00B1320-49C8-4750-84A0-D345F0FE28AE}" presName="root" presStyleCnt="0">
        <dgm:presLayoutVars>
          <dgm:dir/>
          <dgm:resizeHandles val="exact"/>
        </dgm:presLayoutVars>
      </dgm:prSet>
      <dgm:spPr/>
    </dgm:pt>
    <dgm:pt modelId="{142AF062-D2D6-4618-85B7-CF46428C7EBC}" type="pres">
      <dgm:prSet presAssocID="{234E9577-BFF7-4015-AAFC-38DA75F1EB4F}" presName="compNode" presStyleCnt="0"/>
      <dgm:spPr/>
    </dgm:pt>
    <dgm:pt modelId="{1CB15066-AAC5-486B-B06B-543A3FE35844}" type="pres">
      <dgm:prSet presAssocID="{234E9577-BFF7-4015-AAFC-38DA75F1EB4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x trolley"/>
        </a:ext>
      </dgm:extLst>
    </dgm:pt>
    <dgm:pt modelId="{A863C5BB-1783-4F9A-99AD-021D69799958}" type="pres">
      <dgm:prSet presAssocID="{234E9577-BFF7-4015-AAFC-38DA75F1EB4F}" presName="spaceRect" presStyleCnt="0"/>
      <dgm:spPr/>
    </dgm:pt>
    <dgm:pt modelId="{ECFCB418-B400-422F-9F82-E26D8E4B0811}" type="pres">
      <dgm:prSet presAssocID="{234E9577-BFF7-4015-AAFC-38DA75F1EB4F}" presName="textRect" presStyleLbl="revTx" presStyleIdx="0" presStyleCnt="3">
        <dgm:presLayoutVars>
          <dgm:chMax val="1"/>
          <dgm:chPref val="1"/>
        </dgm:presLayoutVars>
      </dgm:prSet>
      <dgm:spPr/>
    </dgm:pt>
    <dgm:pt modelId="{5BA45129-F038-46E4-AB48-AA22DA516DEB}" type="pres">
      <dgm:prSet presAssocID="{35540099-73F9-4DE6-91D3-777E5F3CA14D}" presName="sibTrans" presStyleCnt="0"/>
      <dgm:spPr/>
    </dgm:pt>
    <dgm:pt modelId="{89D37E74-02DA-441C-BF0D-9558739A5867}" type="pres">
      <dgm:prSet presAssocID="{5D87FA5D-52E3-413B-8DF1-A886314C76DF}" presName="compNode" presStyleCnt="0"/>
      <dgm:spPr/>
    </dgm:pt>
    <dgm:pt modelId="{F387AB72-8AE8-46E2-8311-77EA799AFB76}" type="pres">
      <dgm:prSet presAssocID="{5D87FA5D-52E3-413B-8DF1-A886314C76D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rapes"/>
        </a:ext>
      </dgm:extLst>
    </dgm:pt>
    <dgm:pt modelId="{AFD6A12E-8817-4DED-B729-45069BA41122}" type="pres">
      <dgm:prSet presAssocID="{5D87FA5D-52E3-413B-8DF1-A886314C76DF}" presName="spaceRect" presStyleCnt="0"/>
      <dgm:spPr/>
    </dgm:pt>
    <dgm:pt modelId="{A42E8547-2386-488A-8480-E79CF2F5FDAC}" type="pres">
      <dgm:prSet presAssocID="{5D87FA5D-52E3-413B-8DF1-A886314C76DF}" presName="textRect" presStyleLbl="revTx" presStyleIdx="1" presStyleCnt="3">
        <dgm:presLayoutVars>
          <dgm:chMax val="1"/>
          <dgm:chPref val="1"/>
        </dgm:presLayoutVars>
      </dgm:prSet>
      <dgm:spPr/>
    </dgm:pt>
    <dgm:pt modelId="{9216CA46-4135-47F5-AEE3-1F1FCA2B52B4}" type="pres">
      <dgm:prSet presAssocID="{FBBDCCCA-0FCF-4C3C-B78A-ECD4C15565B0}" presName="sibTrans" presStyleCnt="0"/>
      <dgm:spPr/>
    </dgm:pt>
    <dgm:pt modelId="{E2AB836F-BA48-4648-9C2F-A6C63F9A453E}" type="pres">
      <dgm:prSet presAssocID="{7E171F7E-D449-4BD2-93F8-B298EB3A2E50}" presName="compNode" presStyleCnt="0"/>
      <dgm:spPr/>
    </dgm:pt>
    <dgm:pt modelId="{6530D6E0-A2CB-4031-A192-B54E747194EA}" type="pres">
      <dgm:prSet presAssocID="{7E171F7E-D449-4BD2-93F8-B298EB3A2E50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ck"/>
        </a:ext>
      </dgm:extLst>
    </dgm:pt>
    <dgm:pt modelId="{6DACCBBA-5D33-4492-BE25-F0009A7E7097}" type="pres">
      <dgm:prSet presAssocID="{7E171F7E-D449-4BD2-93F8-B298EB3A2E50}" presName="spaceRect" presStyleCnt="0"/>
      <dgm:spPr/>
    </dgm:pt>
    <dgm:pt modelId="{D87A7D52-2D94-4C1F-9667-5BB37499E376}" type="pres">
      <dgm:prSet presAssocID="{7E171F7E-D449-4BD2-93F8-B298EB3A2E50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34743A2C-BCF0-4264-84B8-07BE57D6C20F}" srcId="{A00B1320-49C8-4750-84A0-D345F0FE28AE}" destId="{7E171F7E-D449-4BD2-93F8-B298EB3A2E50}" srcOrd="2" destOrd="0" parTransId="{103D1361-33BF-4AFC-B0D3-26561580C6DE}" sibTransId="{0A55850B-ACD2-4EC3-8F58-F9A12822E288}"/>
    <dgm:cxn modelId="{DE92E57B-65B4-4118-9757-9E57DC8BA7D8}" type="presOf" srcId="{234E9577-BFF7-4015-AAFC-38DA75F1EB4F}" destId="{ECFCB418-B400-422F-9F82-E26D8E4B0811}" srcOrd="0" destOrd="0" presId="urn:microsoft.com/office/officeart/2018/2/layout/IconLabelList"/>
    <dgm:cxn modelId="{3C0711B3-E4EA-4FCA-8B00-4B40C62D51BA}" type="presOf" srcId="{7E171F7E-D449-4BD2-93F8-B298EB3A2E50}" destId="{D87A7D52-2D94-4C1F-9667-5BB37499E376}" srcOrd="0" destOrd="0" presId="urn:microsoft.com/office/officeart/2018/2/layout/IconLabelList"/>
    <dgm:cxn modelId="{A7E00DD3-7FC0-4E67-A183-C04216F37D25}" srcId="{A00B1320-49C8-4750-84A0-D345F0FE28AE}" destId="{5D87FA5D-52E3-413B-8DF1-A886314C76DF}" srcOrd="1" destOrd="0" parTransId="{D75FF63A-4259-4A1C-9514-B2B2B19CA3DD}" sibTransId="{FBBDCCCA-0FCF-4C3C-B78A-ECD4C15565B0}"/>
    <dgm:cxn modelId="{8CFA3BDC-12D0-4D27-B58B-EFB59374697C}" type="presOf" srcId="{5D87FA5D-52E3-413B-8DF1-A886314C76DF}" destId="{A42E8547-2386-488A-8480-E79CF2F5FDAC}" srcOrd="0" destOrd="0" presId="urn:microsoft.com/office/officeart/2018/2/layout/IconLabelList"/>
    <dgm:cxn modelId="{11DD1FE6-5EED-4F9A-9470-9785C71C5A44}" srcId="{A00B1320-49C8-4750-84A0-D345F0FE28AE}" destId="{234E9577-BFF7-4015-AAFC-38DA75F1EB4F}" srcOrd="0" destOrd="0" parTransId="{6BABF852-1474-406B-A4FF-F0CB6C323AF0}" sibTransId="{35540099-73F9-4DE6-91D3-777E5F3CA14D}"/>
    <dgm:cxn modelId="{CEB134F8-8271-4C35-8DF6-0A5747E5C7BE}" type="presOf" srcId="{A00B1320-49C8-4750-84A0-D345F0FE28AE}" destId="{E6945879-8777-4ED3-84C7-53EE9A42B8AF}" srcOrd="0" destOrd="0" presId="urn:microsoft.com/office/officeart/2018/2/layout/IconLabelList"/>
    <dgm:cxn modelId="{D880A6C8-C5E0-4FBE-AB08-259450EE6C9F}" type="presParOf" srcId="{E6945879-8777-4ED3-84C7-53EE9A42B8AF}" destId="{142AF062-D2D6-4618-85B7-CF46428C7EBC}" srcOrd="0" destOrd="0" presId="urn:microsoft.com/office/officeart/2018/2/layout/IconLabelList"/>
    <dgm:cxn modelId="{DC3A1AF6-260F-4124-A42A-4FD877BD0961}" type="presParOf" srcId="{142AF062-D2D6-4618-85B7-CF46428C7EBC}" destId="{1CB15066-AAC5-486B-B06B-543A3FE35844}" srcOrd="0" destOrd="0" presId="urn:microsoft.com/office/officeart/2018/2/layout/IconLabelList"/>
    <dgm:cxn modelId="{6A95310B-EB48-400C-B3A9-570E13929F48}" type="presParOf" srcId="{142AF062-D2D6-4618-85B7-CF46428C7EBC}" destId="{A863C5BB-1783-4F9A-99AD-021D69799958}" srcOrd="1" destOrd="0" presId="urn:microsoft.com/office/officeart/2018/2/layout/IconLabelList"/>
    <dgm:cxn modelId="{C39FD1F6-03DC-4309-8FE0-B325A45CC945}" type="presParOf" srcId="{142AF062-D2D6-4618-85B7-CF46428C7EBC}" destId="{ECFCB418-B400-422F-9F82-E26D8E4B0811}" srcOrd="2" destOrd="0" presId="urn:microsoft.com/office/officeart/2018/2/layout/IconLabelList"/>
    <dgm:cxn modelId="{5FA864B4-7ED6-4194-BE68-B8C3AF8D812C}" type="presParOf" srcId="{E6945879-8777-4ED3-84C7-53EE9A42B8AF}" destId="{5BA45129-F038-46E4-AB48-AA22DA516DEB}" srcOrd="1" destOrd="0" presId="urn:microsoft.com/office/officeart/2018/2/layout/IconLabelList"/>
    <dgm:cxn modelId="{BD95813C-2E46-442F-B701-341A1E679695}" type="presParOf" srcId="{E6945879-8777-4ED3-84C7-53EE9A42B8AF}" destId="{89D37E74-02DA-441C-BF0D-9558739A5867}" srcOrd="2" destOrd="0" presId="urn:microsoft.com/office/officeart/2018/2/layout/IconLabelList"/>
    <dgm:cxn modelId="{9EAAF5B9-4233-45D6-BE22-397A8C661773}" type="presParOf" srcId="{89D37E74-02DA-441C-BF0D-9558739A5867}" destId="{F387AB72-8AE8-46E2-8311-77EA799AFB76}" srcOrd="0" destOrd="0" presId="urn:microsoft.com/office/officeart/2018/2/layout/IconLabelList"/>
    <dgm:cxn modelId="{D1675F6B-4987-4AC3-BCC2-FD745F073359}" type="presParOf" srcId="{89D37E74-02DA-441C-BF0D-9558739A5867}" destId="{AFD6A12E-8817-4DED-B729-45069BA41122}" srcOrd="1" destOrd="0" presId="urn:microsoft.com/office/officeart/2018/2/layout/IconLabelList"/>
    <dgm:cxn modelId="{CD9476AF-DB1C-4BF0-994E-2C5CE6263FB3}" type="presParOf" srcId="{89D37E74-02DA-441C-BF0D-9558739A5867}" destId="{A42E8547-2386-488A-8480-E79CF2F5FDAC}" srcOrd="2" destOrd="0" presId="urn:microsoft.com/office/officeart/2018/2/layout/IconLabelList"/>
    <dgm:cxn modelId="{31026593-5051-4ED1-820A-D4C1EA0BFD8D}" type="presParOf" srcId="{E6945879-8777-4ED3-84C7-53EE9A42B8AF}" destId="{9216CA46-4135-47F5-AEE3-1F1FCA2B52B4}" srcOrd="3" destOrd="0" presId="urn:microsoft.com/office/officeart/2018/2/layout/IconLabelList"/>
    <dgm:cxn modelId="{A36BFA6A-F5EC-495C-9034-F6499C42528A}" type="presParOf" srcId="{E6945879-8777-4ED3-84C7-53EE9A42B8AF}" destId="{E2AB836F-BA48-4648-9C2F-A6C63F9A453E}" srcOrd="4" destOrd="0" presId="urn:microsoft.com/office/officeart/2018/2/layout/IconLabelList"/>
    <dgm:cxn modelId="{597770A5-CC68-4FA3-8C84-72B4F7E5EA5D}" type="presParOf" srcId="{E2AB836F-BA48-4648-9C2F-A6C63F9A453E}" destId="{6530D6E0-A2CB-4031-A192-B54E747194EA}" srcOrd="0" destOrd="0" presId="urn:microsoft.com/office/officeart/2018/2/layout/IconLabelList"/>
    <dgm:cxn modelId="{8E7F819A-5EBE-4333-9E45-EC0F65243FB9}" type="presParOf" srcId="{E2AB836F-BA48-4648-9C2F-A6C63F9A453E}" destId="{6DACCBBA-5D33-4492-BE25-F0009A7E7097}" srcOrd="1" destOrd="0" presId="urn:microsoft.com/office/officeart/2018/2/layout/IconLabelList"/>
    <dgm:cxn modelId="{5D90E117-35D0-4B15-9F85-0A674446C30D}" type="presParOf" srcId="{E2AB836F-BA48-4648-9C2F-A6C63F9A453E}" destId="{D87A7D52-2D94-4C1F-9667-5BB37499E376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CB15066-AAC5-486B-B06B-543A3FE35844}">
      <dsp:nvSpPr>
        <dsp:cNvPr id="0" name=""/>
        <dsp:cNvSpPr/>
      </dsp:nvSpPr>
      <dsp:spPr>
        <a:xfrm>
          <a:off x="1263090" y="394853"/>
          <a:ext cx="1308996" cy="130899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FCB418-B400-422F-9F82-E26D8E4B0811}">
      <dsp:nvSpPr>
        <dsp:cNvPr id="0" name=""/>
        <dsp:cNvSpPr/>
      </dsp:nvSpPr>
      <dsp:spPr>
        <a:xfrm>
          <a:off x="463148" y="2061988"/>
          <a:ext cx="2908881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Report to show difference in expected delivery of supplies and actual delivery of supplies.</a:t>
          </a:r>
        </a:p>
      </dsp:txBody>
      <dsp:txXfrm>
        <a:off x="463148" y="2061988"/>
        <a:ext cx="2908881" cy="720000"/>
      </dsp:txXfrm>
    </dsp:sp>
    <dsp:sp modelId="{F387AB72-8AE8-46E2-8311-77EA799AFB76}">
      <dsp:nvSpPr>
        <dsp:cNvPr id="0" name=""/>
        <dsp:cNvSpPr/>
      </dsp:nvSpPr>
      <dsp:spPr>
        <a:xfrm>
          <a:off x="4681025" y="394853"/>
          <a:ext cx="1308996" cy="130899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42E8547-2386-488A-8480-E79CF2F5FDAC}">
      <dsp:nvSpPr>
        <dsp:cNvPr id="0" name=""/>
        <dsp:cNvSpPr/>
      </dsp:nvSpPr>
      <dsp:spPr>
        <a:xfrm>
          <a:off x="3881083" y="2061988"/>
          <a:ext cx="2908881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Report to show what wines the distributors are selling more or less of over time.</a:t>
          </a:r>
        </a:p>
      </dsp:txBody>
      <dsp:txXfrm>
        <a:off x="3881083" y="2061988"/>
        <a:ext cx="2908881" cy="720000"/>
      </dsp:txXfrm>
    </dsp:sp>
    <dsp:sp modelId="{6530D6E0-A2CB-4031-A192-B54E747194EA}">
      <dsp:nvSpPr>
        <dsp:cNvPr id="0" name=""/>
        <dsp:cNvSpPr/>
      </dsp:nvSpPr>
      <dsp:spPr>
        <a:xfrm>
          <a:off x="8098960" y="394853"/>
          <a:ext cx="1308996" cy="130899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7A7D52-2D94-4C1F-9667-5BB37499E376}">
      <dsp:nvSpPr>
        <dsp:cNvPr id="0" name=""/>
        <dsp:cNvSpPr/>
      </dsp:nvSpPr>
      <dsp:spPr>
        <a:xfrm>
          <a:off x="7299018" y="2061988"/>
          <a:ext cx="2908881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Report to show average number of hours worked each week by employees over a period of time.</a:t>
          </a:r>
        </a:p>
      </dsp:txBody>
      <dsp:txXfrm>
        <a:off x="7299018" y="2061988"/>
        <a:ext cx="2908881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 title="Page Number Shape">
            <a:extLst>
              <a:ext uri="{FF2B5EF4-FFF2-40B4-BE49-F238E27FC236}">
                <a16:creationId xmlns:a16="http://schemas.microsoft.com/office/drawing/2014/main" id="{DD4C4B28-6B4B-4445-8535-F516D74E4AA9}"/>
              </a:ext>
            </a:extLst>
          </p:cNvPr>
          <p:cNvSpPr/>
          <p:nvPr/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cxnSp>
        <p:nvCxnSpPr>
          <p:cNvPr id="12" name="Straight Connector 11" title="Verticle Rule Line">
            <a:extLst>
              <a:ext uri="{FF2B5EF4-FFF2-40B4-BE49-F238E27FC236}">
                <a16:creationId xmlns:a16="http://schemas.microsoft.com/office/drawing/2014/main" id="{0CB1C732-7193-4253-8746-850D090A6B4E}"/>
              </a:ext>
            </a:extLst>
          </p:cNvPr>
          <p:cNvCxnSpPr>
            <a:cxnSpLocks/>
          </p:cNvCxnSpPr>
          <p:nvPr/>
        </p:nvCxnSpPr>
        <p:spPr>
          <a:xfrm>
            <a:off x="758952" y="1280160"/>
            <a:ext cx="0" cy="557784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03AA199-952B-427F-A5BE-B97D25FD07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8992" y="1143000"/>
            <a:ext cx="6720840" cy="3730752"/>
          </a:xfrm>
        </p:spPr>
        <p:txBody>
          <a:bodyPr anchor="t">
            <a:normAutofit/>
          </a:bodyPr>
          <a:lstStyle>
            <a:lvl1pPr algn="l">
              <a:defRPr sz="7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1AA393-A876-475F-A05B-1CCAB6C1F0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78992" y="5010912"/>
            <a:ext cx="6720840" cy="70408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395621-D631-4F31-AEEF-C8574E5073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86356" y="6007608"/>
            <a:ext cx="3143643" cy="365125"/>
          </a:xfrm>
        </p:spPr>
        <p:txBody>
          <a:bodyPr/>
          <a:lstStyle/>
          <a:p>
            <a:fld id="{53BEF823-48A5-43FC-BE03-E79964288B41}" type="datetimeFigureOut">
              <a:rPr lang="en-US" smtClean="0"/>
              <a:t>12/9/25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EE125-77AD-4E23-AFB7-C5CFDEACA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78991" y="6007608"/>
            <a:ext cx="672083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569682-B530-4F52-87B9-39464A093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ctr">
              <a:defRPr/>
            </a:lvl1pPr>
          </a:lstStyle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13384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351BD-5252-4168-A69E-C6864AE29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48EEE-19C9-493B-836D-73B9E4A0BE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A6BFE-11ED-4FB4-9F65-508B5B0F0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12/9/25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0F536E-BEFF-4E0D-B4EC-39DE28C67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EE02AF-6FE1-4972-BD48-A82499AD6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5288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452EE-D9FC-4E51-9BFF-141F91923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051" y="2414016"/>
            <a:ext cx="10666949" cy="3099816"/>
          </a:xfrm>
        </p:spPr>
        <p:txBody>
          <a:bodyPr anchor="t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E086C4-4949-4E7A-A182-6709496A1C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8952" y="1389888"/>
            <a:ext cx="10671048" cy="822960"/>
          </a:xfrm>
        </p:spPr>
        <p:txBody>
          <a:bodyPr anchor="ctr">
            <a:normAutofit/>
          </a:bodyPr>
          <a:lstStyle>
            <a:lvl1pPr marL="0" indent="0">
              <a:buNone/>
              <a:defRPr sz="2000" i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12BC88-6A2B-4851-9568-23A4B74D9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12/9/25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82CFE5-65C3-4F46-9141-464545594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21B390-4E13-4481-AC02-FF126656C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0857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E02F8-47BB-4D30-8EFE-69C9222D9E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84648" y="758952"/>
            <a:ext cx="6245352" cy="224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844D33-6BF0-4205-A542-8537E35159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84647" y="3273551"/>
            <a:ext cx="6245351" cy="22402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6953A83-D2BE-4015-8D64-BE93DDFE5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12/9/25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A849E67-05F9-4033-B033-74D6B8C8E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FAAC6AA-CFFB-438F-9327-DDB023E2E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A4960CB-ABA7-4442-AB15-FE444F23C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9888841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348291-9C7D-407E-8D07-FA3A323EA9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4648" y="758952"/>
            <a:ext cx="6245352" cy="548640"/>
          </a:xfrm>
        </p:spPr>
        <p:txBody>
          <a:bodyPr anchor="b"/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A192D2-8BA6-4A4D-814D-AD37A2A10A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90323" y="1377198"/>
            <a:ext cx="6239675" cy="1828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6FD4BC-C948-41C4-BA24-5D26147E1C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84647" y="3319548"/>
            <a:ext cx="6245351" cy="548640"/>
          </a:xfrm>
        </p:spPr>
        <p:txBody>
          <a:bodyPr anchor="b"/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2E359C-F73D-4F1B-9F9A-6D62856710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84646" y="3932372"/>
            <a:ext cx="6245352" cy="1828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76B63AE-38FF-40DD-A543-32DD98E6B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C686C0EB-E082-4BAB-99E8-B42F3C28B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12/9/25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3CB0152-BA1F-48C7-A66F-3ADB51C94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BD1C21B3-5CF6-415F-8295-EED3DF5CB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389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470D5-4EB9-4410-A8AE-6D85F1923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887FB59-BA77-4864-B9E8-994851250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12/9/25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6F0BC0B-BA67-455B-B567-1473DF062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CF0BCF3-6FB5-4529-AA6A-A31467351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98389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F1315B-6865-4A5A-91C1-B75339038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12/9/25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536720-08C7-43DE-8EB5-CAB52D0E9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477AF-B012-491C-AE42-22DE1203B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2605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183AC-72A9-43F5-A1B3-1D7A6A4C7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758951"/>
            <a:ext cx="6245352" cy="475488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045592-52ED-4270-ACBB-BCC528DAC4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58953" y="3815080"/>
            <a:ext cx="3831336" cy="169875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99A93518-F9B5-418F-9883-BEF8359B0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12/9/25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7B9FFE7-C4AB-425B-9B56-E412C722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9231052-EBA8-4781-B28A-2FEA8BE52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DBF9E7-F686-4FA1-9BA5-69BDD014B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58952"/>
            <a:ext cx="3831336" cy="293017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13323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116CF06-B27C-4DC4-981D-38E31997B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758951"/>
            <a:ext cx="6245352" cy="4754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976E66-2CB3-4F47-97F6-077C428183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58952" y="3794760"/>
            <a:ext cx="3831336" cy="1719072"/>
          </a:xfrm>
        </p:spPr>
        <p:txBody>
          <a:bodyPr>
            <a:normAutofit/>
          </a:bodyPr>
          <a:lstStyle>
            <a:lvl1pPr marL="0" indent="0">
              <a:buNone/>
              <a:defRPr sz="200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1414C9F-CBBD-4D5E-A831-BC0CDFEBC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12/9/25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58DC0C8-B580-442D-8DAC-4F0F869B1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B0D29E8-DFEE-49AB-83AF-85FF25252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EAAF1B-6B6E-4D37-8F57-E403C6371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58952"/>
            <a:ext cx="3831336" cy="29260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9602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59FCF-ACDF-495D-ACFA-15FCAC9EA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3786E3-AB17-427E-8EF8-7FCB671A11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33B4E9-7A16-448C-8BE6-B14941A34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12/9/25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9212F5-5835-49FF-836F-5E3008A0E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9D492B-E5EE-4D24-A087-57D739CFA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1319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31E395-94BD-4E79-8E42-9CD4EB33CA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475542" y="758952"/>
            <a:ext cx="2954458" cy="498600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9AA8A4-66BC-4E80-ABE3-F533F82B88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58952" y="758952"/>
            <a:ext cx="7407586" cy="498600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DA4EA6-6A1A-48ED-9D79-A438561C7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12/9/25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049B2BA-9250-4EBF-8820-10BDA5C1C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F914475-55F3-4C46-BAE2-E4D93E9E3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5015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 title="Page Number Shape">
            <a:extLst>
              <a:ext uri="{FF2B5EF4-FFF2-40B4-BE49-F238E27FC236}">
                <a16:creationId xmlns:a16="http://schemas.microsoft.com/office/drawing/2014/main" id="{72411438-92A5-42B0-9C54-EA4FB32ACB5E}"/>
              </a:ext>
            </a:extLst>
          </p:cNvPr>
          <p:cNvSpPr/>
          <p:nvPr/>
        </p:nvSpPr>
        <p:spPr bwMode="auto">
          <a:xfrm>
            <a:off x="11784011" y="5778801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56E4D8-47B6-4DEC-BD29-B3B6ED4CC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58952"/>
            <a:ext cx="3831336" cy="47548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0F5D4C-4873-4052-A294-99CCB9421C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4648" y="758952"/>
            <a:ext cx="6245352" cy="47548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1D62B3-3490-46B4-A10E-33FCE4A1FB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16952" y="6007608"/>
            <a:ext cx="38130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algn="r"/>
            <a:fld id="{53BEF823-48A5-43FC-BE03-E79964288B41}" type="datetimeFigureOut">
              <a:rPr lang="en-US" smtClean="0"/>
              <a:pPr algn="r"/>
              <a:t>12/9/25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424CB1-7D5F-4F52-9F99-7068F5819E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8952" y="6007608"/>
            <a:ext cx="38313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algn="l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1F9CC9-1431-4569-B2F1-D048149553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86616" y="6007608"/>
            <a:ext cx="411480" cy="365125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lvl1pPr algn="r">
              <a:defRPr sz="900" b="1">
                <a:solidFill>
                  <a:schemeClr val="bg1"/>
                </a:solidFill>
              </a:defRPr>
            </a:lvl1pPr>
          </a:lstStyle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9537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8" r:id="rId1"/>
    <p:sldLayoutId id="2147483769" r:id="rId2"/>
    <p:sldLayoutId id="2147483770" r:id="rId3"/>
    <p:sldLayoutId id="2147483771" r:id="rId4"/>
    <p:sldLayoutId id="2147483772" r:id="rId5"/>
    <p:sldLayoutId id="2147483778" r:id="rId6"/>
    <p:sldLayoutId id="2147483773" r:id="rId7"/>
    <p:sldLayoutId id="2147483774" r:id="rId8"/>
    <p:sldLayoutId id="2147483775" r:id="rId9"/>
    <p:sldLayoutId id="2147483777" r:id="rId10"/>
    <p:sldLayoutId id="214748377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0" i="1" kern="1200" spc="1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110000"/>
        </a:lnSpc>
        <a:spcBef>
          <a:spcPts val="400"/>
        </a:spcBef>
        <a:spcAft>
          <a:spcPts val="400"/>
        </a:spcAft>
        <a:buClrTx/>
        <a:buFont typeface="Arial" panose="020B0604020202020204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182880" indent="0" algn="l" defTabSz="914400" rtl="0" eaLnBrk="1" latinLnBrk="0" hangingPunct="1">
        <a:lnSpc>
          <a:spcPct val="110000"/>
        </a:lnSpc>
        <a:spcBef>
          <a:spcPts val="400"/>
        </a:spcBef>
        <a:spcAft>
          <a:spcPts val="400"/>
        </a:spcAft>
        <a:buClrTx/>
        <a:buFont typeface="Arial" panose="020B0604020202020204" pitchFamily="34" charset="0"/>
        <a:buNone/>
        <a:defRPr sz="18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82880" indent="-182880" algn="l" defTabSz="914400" rtl="0" eaLnBrk="1" latinLnBrk="0" hangingPunct="1">
        <a:lnSpc>
          <a:spcPct val="110000"/>
        </a:lnSpc>
        <a:spcBef>
          <a:spcPts val="400"/>
        </a:spcBef>
        <a:spcAft>
          <a:spcPts val="400"/>
        </a:spcAft>
        <a:buClrTx/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82880" indent="0" algn="l" defTabSz="914400" rtl="0" eaLnBrk="1" latinLnBrk="0" hangingPunct="1">
        <a:lnSpc>
          <a:spcPct val="110000"/>
        </a:lnSpc>
        <a:spcBef>
          <a:spcPts val="400"/>
        </a:spcBef>
        <a:spcAft>
          <a:spcPts val="400"/>
        </a:spcAft>
        <a:buClrTx/>
        <a:buFont typeface="Arial" panose="020B0604020202020204" pitchFamily="34" charset="0"/>
        <a:buNone/>
        <a:defRPr sz="14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82880" indent="-182880" algn="l" defTabSz="914400" rtl="0" eaLnBrk="1" latinLnBrk="0" hangingPunct="1">
        <a:lnSpc>
          <a:spcPct val="110000"/>
        </a:lnSpc>
        <a:spcBef>
          <a:spcPts val="400"/>
        </a:spcBef>
        <a:spcAft>
          <a:spcPts val="400"/>
        </a:spcAft>
        <a:buClrTx/>
        <a:buFont typeface="Arial" panose="020B0604020202020204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8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55B419A7-F817-4767-8CCB-FB0E189C4A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D05924-FB51-DA83-4E42-EF179C3E09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8991" y="893935"/>
            <a:ext cx="5364937" cy="3339390"/>
          </a:xfrm>
        </p:spPr>
        <p:txBody>
          <a:bodyPr anchor="ctr">
            <a:normAutofit/>
          </a:bodyPr>
          <a:lstStyle/>
          <a:p>
            <a:r>
              <a:rPr lang="en-US" sz="6000" dirty="0"/>
              <a:t>Bacchus Winery Case Study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C571FC-C4CF-A9B9-6D7A-AE4BCCA277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0407" y="3526430"/>
            <a:ext cx="5364936" cy="909848"/>
          </a:xfrm>
        </p:spPr>
        <p:txBody>
          <a:bodyPr anchor="t">
            <a:normAutofit/>
          </a:bodyPr>
          <a:lstStyle/>
          <a:p>
            <a:r>
              <a:rPr lang="en-US" dirty="0"/>
              <a:t>CSD310 – Database Development &amp; Use</a:t>
            </a:r>
          </a:p>
          <a:p>
            <a:r>
              <a:rPr lang="en-US" dirty="0"/>
              <a:t>Professor Susan Sampson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3B95BE3-D5B2-4F38-9A01-17866C9FBA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40408" y="4555071"/>
            <a:ext cx="530352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bstract design of flower petals in pastel">
            <a:extLst>
              <a:ext uri="{FF2B5EF4-FFF2-40B4-BE49-F238E27FC236}">
                <a16:creationId xmlns:a16="http://schemas.microsoft.com/office/drawing/2014/main" id="{03F2FB7D-2540-A845-156B-66FD815319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550" r="29642" b="2"/>
          <a:stretch>
            <a:fillRect/>
          </a:stretch>
        </p:blipFill>
        <p:spPr>
          <a:xfrm>
            <a:off x="6976934" y="10"/>
            <a:ext cx="5215066" cy="6857990"/>
          </a:xfrm>
          <a:custGeom>
            <a:avLst/>
            <a:gdLst/>
            <a:ahLst/>
            <a:cxnLst/>
            <a:rect l="l" t="t" r="r" b="b"/>
            <a:pathLst>
              <a:path w="5215066" h="6858000">
                <a:moveTo>
                  <a:pt x="2017353" y="0"/>
                </a:moveTo>
                <a:lnTo>
                  <a:pt x="5215066" y="0"/>
                </a:lnTo>
                <a:lnTo>
                  <a:pt x="5215066" y="6858000"/>
                </a:lnTo>
                <a:lnTo>
                  <a:pt x="1292431" y="6858000"/>
                </a:lnTo>
                <a:lnTo>
                  <a:pt x="1012702" y="6549681"/>
                </a:lnTo>
                <a:cubicBezTo>
                  <a:pt x="380046" y="5781733"/>
                  <a:pt x="0" y="4797206"/>
                  <a:pt x="0" y="3723759"/>
                </a:cubicBezTo>
                <a:cubicBezTo>
                  <a:pt x="0" y="2190263"/>
                  <a:pt x="775604" y="838237"/>
                  <a:pt x="1955279" y="39865"/>
                </a:cubicBezTo>
                <a:close/>
              </a:path>
            </a:pathLst>
          </a:custGeom>
        </p:spPr>
      </p:pic>
      <p:sp>
        <p:nvSpPr>
          <p:cNvPr id="36" name="Freeform 6">
            <a:extLst>
              <a:ext uri="{FF2B5EF4-FFF2-40B4-BE49-F238E27FC236}">
                <a16:creationId xmlns:a16="http://schemas.microsoft.com/office/drawing/2014/main" id="{ADA271CD-3011-4A05-B4A3-80F1794684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8152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A2A4EC72-A1F9-65D7-3B79-0A7395723C56}"/>
              </a:ext>
            </a:extLst>
          </p:cNvPr>
          <p:cNvSpPr txBox="1">
            <a:spLocks/>
          </p:cNvSpPr>
          <p:nvPr/>
        </p:nvSpPr>
        <p:spPr>
          <a:xfrm>
            <a:off x="4519829" y="5845538"/>
            <a:ext cx="3520586" cy="9692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dirty="0">
              <a:solidFill>
                <a:srgbClr val="FFFFF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6D9C14-3AC2-7FC4-B66D-DF87A3CE92C3}"/>
              </a:ext>
            </a:extLst>
          </p:cNvPr>
          <p:cNvSpPr txBox="1"/>
          <p:nvPr/>
        </p:nvSpPr>
        <p:spPr>
          <a:xfrm>
            <a:off x="1140407" y="5116808"/>
            <a:ext cx="237484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FFFF"/>
                </a:solidFill>
              </a:rPr>
              <a:t>Robert Breutzmann</a:t>
            </a:r>
          </a:p>
          <a:p>
            <a:r>
              <a:rPr lang="en-US" sz="1800" dirty="0">
                <a:solidFill>
                  <a:srgbClr val="FFFFFF"/>
                </a:solidFill>
              </a:rPr>
              <a:t>Carolina Rodriguez</a:t>
            </a:r>
          </a:p>
          <a:p>
            <a:r>
              <a:rPr lang="en-US" sz="1800" dirty="0">
                <a:solidFill>
                  <a:srgbClr val="FFFFFF"/>
                </a:solidFill>
              </a:rPr>
              <a:t>Sara White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86635D-644E-F4EE-2977-C86507845B99}"/>
              </a:ext>
            </a:extLst>
          </p:cNvPr>
          <p:cNvSpPr txBox="1"/>
          <p:nvPr/>
        </p:nvSpPr>
        <p:spPr>
          <a:xfrm>
            <a:off x="1140408" y="4665595"/>
            <a:ext cx="35350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BLUE TEAM:</a:t>
            </a:r>
          </a:p>
        </p:txBody>
      </p:sp>
    </p:spTree>
    <p:extLst>
      <p:ext uri="{BB962C8B-B14F-4D97-AF65-F5344CB8AC3E}">
        <p14:creationId xmlns:p14="http://schemas.microsoft.com/office/powerpoint/2010/main" val="28113738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C5176844-69C3-4F79-BE38-EA5BDDF4F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CF1AAE4-D0BC-430F-A613-7BBAAECA0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228599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A65A4D-39F3-F73E-4FA4-78098103EA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379475"/>
            <a:ext cx="10671048" cy="15544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Group 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36406-71A0-907A-D000-4133FEC9A9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8824" y="2607732"/>
            <a:ext cx="7618694" cy="3174357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Freeform 6">
            <a:extLst>
              <a:ext uri="{FF2B5EF4-FFF2-40B4-BE49-F238E27FC236}">
                <a16:creationId xmlns:a16="http://schemas.microsoft.com/office/drawing/2014/main" id="{A101E513-AF74-4E9D-A31F-996642507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pic>
        <p:nvPicPr>
          <p:cNvPr id="4" name="Graphic 3" descr="Users with solid fill">
            <a:extLst>
              <a:ext uri="{FF2B5EF4-FFF2-40B4-BE49-F238E27FC236}">
                <a16:creationId xmlns:a16="http://schemas.microsoft.com/office/drawing/2014/main" id="{572D8266-3849-5F66-9DAB-EAD5777BF5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599561" y="2509712"/>
            <a:ext cx="3370396" cy="3370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6027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AB02BA-3FCA-F2BF-E99E-2E096790A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5176844-69C3-4F79-BE38-EA5BDDF4F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F1AAE4-D0BC-430F-A613-7BBAAECA0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228599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C3586B-3AD9-183E-D682-D363373C8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379475"/>
            <a:ext cx="10671048" cy="1731713"/>
          </a:xfr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Case Study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40CCE3-D4E2-713A-C6DB-8CFB4588A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8824" y="2607732"/>
            <a:ext cx="8033636" cy="3174357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dirty="0"/>
              <a:t>Overview of the Case Study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12" name="Freeform 6">
            <a:extLst>
              <a:ext uri="{FF2B5EF4-FFF2-40B4-BE49-F238E27FC236}">
                <a16:creationId xmlns:a16="http://schemas.microsoft.com/office/drawing/2014/main" id="{A101E513-AF74-4E9D-A31F-996642507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pic>
        <p:nvPicPr>
          <p:cNvPr id="4" name="Graphic 3" descr="Closed book with solid fill">
            <a:extLst>
              <a:ext uri="{FF2B5EF4-FFF2-40B4-BE49-F238E27FC236}">
                <a16:creationId xmlns:a16="http://schemas.microsoft.com/office/drawing/2014/main" id="{DDD715AF-3E1D-5426-8458-E5F837FC6F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792460" y="2411693"/>
            <a:ext cx="3370396" cy="3370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566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5176844-69C3-4F79-BE38-EA5BDDF4F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113FF5-9B84-4A89-BF52-EA3C7E01AA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195596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5B50BB-96FB-4CE0-E486-EDCD61427F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420625"/>
            <a:ext cx="10667998" cy="1326814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Key Database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51E944-941C-0DCA-8D64-B5CF978664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8951" y="2413169"/>
            <a:ext cx="7654661" cy="4024206"/>
          </a:xfrm>
        </p:spPr>
        <p:txBody>
          <a:bodyPr anchor="ctr">
            <a:normAutofit/>
          </a:bodyPr>
          <a:lstStyle/>
          <a:p>
            <a:r>
              <a:rPr lang="en-US" dirty="0"/>
              <a:t>List Business Rules Identified that the database needs to solve.</a:t>
            </a:r>
          </a:p>
        </p:txBody>
      </p:sp>
      <p:pic>
        <p:nvPicPr>
          <p:cNvPr id="7" name="Graphic 6" descr="Database">
            <a:extLst>
              <a:ext uri="{FF2B5EF4-FFF2-40B4-BE49-F238E27FC236}">
                <a16:creationId xmlns:a16="http://schemas.microsoft.com/office/drawing/2014/main" id="{D3A55EB0-0F11-BFA5-FE35-9440F3D3A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13614" y="2413169"/>
            <a:ext cx="3370396" cy="3370396"/>
          </a:xfrm>
          <a:prstGeom prst="rect">
            <a:avLst/>
          </a:prstGeom>
        </p:spPr>
      </p:pic>
      <p:sp>
        <p:nvSpPr>
          <p:cNvPr id="14" name="Freeform 6">
            <a:extLst>
              <a:ext uri="{FF2B5EF4-FFF2-40B4-BE49-F238E27FC236}">
                <a16:creationId xmlns:a16="http://schemas.microsoft.com/office/drawing/2014/main" id="{A101E513-AF74-4E9D-A31F-996642507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6519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5176844-69C3-4F79-BE38-EA5BDDF4F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F1AAE4-D0BC-430F-A613-7BBAAECA0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228599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E803F3-3D08-381B-36A6-7F6219316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379475"/>
            <a:ext cx="10671048" cy="155448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Finalized ERD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F04554-D6C0-1ADE-CE5F-DF28E0EE1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671" y="2665474"/>
            <a:ext cx="11240339" cy="3174357"/>
          </a:xfrm>
        </p:spPr>
        <p:txBody>
          <a:bodyPr>
            <a:normAutofit/>
          </a:bodyPr>
          <a:lstStyle/>
          <a:p>
            <a:r>
              <a:rPr lang="en-US" dirty="0"/>
              <a:t>(This may be multiple Slides.)</a:t>
            </a:r>
          </a:p>
          <a:p>
            <a:r>
              <a:rPr lang="en-US" dirty="0"/>
              <a:t>Possibly break down the ERD into the Supplier Tables, Distributor Tables, and the Internal Tables)</a:t>
            </a:r>
          </a:p>
        </p:txBody>
      </p:sp>
      <p:sp>
        <p:nvSpPr>
          <p:cNvPr id="12" name="Freeform 6">
            <a:extLst>
              <a:ext uri="{FF2B5EF4-FFF2-40B4-BE49-F238E27FC236}">
                <a16:creationId xmlns:a16="http://schemas.microsoft.com/office/drawing/2014/main" id="{A101E513-AF74-4E9D-A31F-996642507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551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5176844-69C3-4F79-BE38-EA5BDDF4F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1113FF5-9B84-4A89-BF52-EA3C7E01AA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195596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96C6E1-8709-4A6F-9A09-49871B5E9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420625"/>
            <a:ext cx="10667998" cy="1326814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Reports selected for generation</a:t>
            </a:r>
          </a:p>
        </p:txBody>
      </p:sp>
      <p:sp>
        <p:nvSpPr>
          <p:cNvPr id="13" name="Freeform 6">
            <a:extLst>
              <a:ext uri="{FF2B5EF4-FFF2-40B4-BE49-F238E27FC236}">
                <a16:creationId xmlns:a16="http://schemas.microsoft.com/office/drawing/2014/main" id="{A101E513-AF74-4E9D-A31F-996642507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2" y="568410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bg1"/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00471DD-2729-7B19-9AC3-AFAB647CD6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60488845"/>
              </p:ext>
            </p:extLst>
          </p:nvPr>
        </p:nvGraphicFramePr>
        <p:xfrm>
          <a:off x="758953" y="2606722"/>
          <a:ext cx="10671048" cy="317684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882060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5176844-69C3-4F79-BE38-EA5BDDF4F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F1AAE4-D0BC-430F-A613-7BBAAECA0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228599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C5C3CB-3C64-6AC6-CB4C-70EA66F8D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379475"/>
            <a:ext cx="10671048" cy="1554480"/>
          </a:xfrm>
        </p:spPr>
        <p:txBody>
          <a:bodyPr anchor="ctr">
            <a:normAutofit/>
          </a:bodyPr>
          <a:lstStyle/>
          <a:p>
            <a:r>
              <a:rPr lang="en-US" sz="5100">
                <a:solidFill>
                  <a:schemeClr val="bg1"/>
                </a:solidFill>
              </a:rPr>
              <a:t>Report 1: Expected vs Actual Supply Delivery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F1E463-6AAB-5E9A-8D22-6FDCEA01B7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8824" y="2607732"/>
            <a:ext cx="5494058" cy="3174357"/>
          </a:xfrm>
        </p:spPr>
        <p:txBody>
          <a:bodyPr>
            <a:normAutofit/>
          </a:bodyPr>
          <a:lstStyle/>
          <a:p>
            <a:r>
              <a:rPr lang="en-US" dirty="0"/>
              <a:t>SQL Code/Description</a:t>
            </a:r>
          </a:p>
        </p:txBody>
      </p:sp>
      <p:sp>
        <p:nvSpPr>
          <p:cNvPr id="12" name="Freeform 6">
            <a:extLst>
              <a:ext uri="{FF2B5EF4-FFF2-40B4-BE49-F238E27FC236}">
                <a16:creationId xmlns:a16="http://schemas.microsoft.com/office/drawing/2014/main" id="{A101E513-AF74-4E9D-A31F-996642507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3033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5176844-69C3-4F79-BE38-EA5BDDF4F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F1AAE4-D0BC-430F-A613-7BBAAECA0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228599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3C7884-72BF-2B24-13C8-BD8A9DA824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379475"/>
            <a:ext cx="10671048" cy="1554480"/>
          </a:xfrm>
        </p:spPr>
        <p:txBody>
          <a:bodyPr anchor="ctr">
            <a:normAutofit/>
          </a:bodyPr>
          <a:lstStyle/>
          <a:p>
            <a:r>
              <a:rPr lang="en-US" sz="5100">
                <a:solidFill>
                  <a:schemeClr val="bg1"/>
                </a:solidFill>
              </a:rPr>
              <a:t>Report 2: Change in Wine Purchases over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B7750-51BC-092D-3385-0F66A42F74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8824" y="2607732"/>
            <a:ext cx="5225117" cy="3174357"/>
          </a:xfrm>
        </p:spPr>
        <p:txBody>
          <a:bodyPr>
            <a:normAutofit/>
          </a:bodyPr>
          <a:lstStyle/>
          <a:p>
            <a:r>
              <a:rPr lang="en-US" dirty="0"/>
              <a:t>SQL Code/Description</a:t>
            </a:r>
          </a:p>
        </p:txBody>
      </p:sp>
      <p:sp>
        <p:nvSpPr>
          <p:cNvPr id="12" name="Freeform 6">
            <a:extLst>
              <a:ext uri="{FF2B5EF4-FFF2-40B4-BE49-F238E27FC236}">
                <a16:creationId xmlns:a16="http://schemas.microsoft.com/office/drawing/2014/main" id="{A101E513-AF74-4E9D-A31F-996642507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7435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5176844-69C3-4F79-BE38-EA5BDDF4F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F1AAE4-D0BC-430F-A613-7BBAAECA0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228599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3F1664-E984-743C-A5C1-DAEBF9AC6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379475"/>
            <a:ext cx="10671048" cy="1554480"/>
          </a:xfrm>
        </p:spPr>
        <p:txBody>
          <a:bodyPr anchor="ctr">
            <a:normAutofit/>
          </a:bodyPr>
          <a:lstStyle/>
          <a:p>
            <a:r>
              <a:rPr lang="en-US" sz="5100">
                <a:solidFill>
                  <a:schemeClr val="bg1"/>
                </a:solidFill>
              </a:rPr>
              <a:t>Report 3: Employee Hours per week over the last period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49F38-385E-D63A-DE28-83FE8D4C00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8824" y="2607732"/>
            <a:ext cx="5601635" cy="3174357"/>
          </a:xfrm>
        </p:spPr>
        <p:txBody>
          <a:bodyPr>
            <a:normAutofit/>
          </a:bodyPr>
          <a:lstStyle/>
          <a:p>
            <a:r>
              <a:rPr lang="en-US" dirty="0"/>
              <a:t>SQL Code/Description</a:t>
            </a:r>
          </a:p>
          <a:p>
            <a:endParaRPr lang="en-US" dirty="0"/>
          </a:p>
        </p:txBody>
      </p:sp>
      <p:sp>
        <p:nvSpPr>
          <p:cNvPr id="12" name="Freeform 6">
            <a:extLst>
              <a:ext uri="{FF2B5EF4-FFF2-40B4-BE49-F238E27FC236}">
                <a16:creationId xmlns:a16="http://schemas.microsoft.com/office/drawing/2014/main" id="{A101E513-AF74-4E9D-A31F-996642507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1634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5176844-69C3-4F79-BE38-EA5BDDF4F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F1AAE4-D0BC-430F-A613-7BBAAECA0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228599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8C122E-86D2-60B0-26F5-01CDA0E51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379475"/>
            <a:ext cx="10671048" cy="155448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Assumptions Made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31C386-372E-CFEC-28C5-24D27DFF44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8824" y="2607732"/>
            <a:ext cx="8412480" cy="3174357"/>
          </a:xfrm>
        </p:spPr>
        <p:txBody>
          <a:bodyPr>
            <a:normAutofit/>
          </a:bodyPr>
          <a:lstStyle/>
          <a:p>
            <a:r>
              <a:rPr lang="en-US" dirty="0"/>
              <a:t>List all assumptions made during the process of making the ERD and business rules.</a:t>
            </a:r>
          </a:p>
          <a:p>
            <a:r>
              <a:rPr lang="en-US" dirty="0"/>
              <a:t>(Such as the shipments vs orders relationships.)</a:t>
            </a:r>
          </a:p>
        </p:txBody>
      </p:sp>
      <p:sp>
        <p:nvSpPr>
          <p:cNvPr id="12" name="Freeform 6">
            <a:extLst>
              <a:ext uri="{FF2B5EF4-FFF2-40B4-BE49-F238E27FC236}">
                <a16:creationId xmlns:a16="http://schemas.microsoft.com/office/drawing/2014/main" id="{A101E513-AF74-4E9D-A31F-996642507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5142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5176844-69C3-4F79-BE38-EA5BDDF4F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F1AAE4-D0BC-430F-A613-7BBAAECA0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228599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AA62CE-7C70-5184-EAB7-0BD784F2E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379475"/>
            <a:ext cx="10671048" cy="155448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Challenges and Resolutoins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0E4B31-DEAD-22EB-A51B-F1119227BA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8824" y="2607732"/>
            <a:ext cx="8412480" cy="3174357"/>
          </a:xfrm>
        </p:spPr>
        <p:txBody>
          <a:bodyPr>
            <a:normAutofit/>
          </a:bodyPr>
          <a:lstStyle/>
          <a:p>
            <a:r>
              <a:rPr lang="en-US" dirty="0"/>
              <a:t>List any hurdles during the ERD creation.</a:t>
            </a:r>
          </a:p>
          <a:p>
            <a:r>
              <a:rPr lang="en-US" dirty="0"/>
              <a:t>Any issues the team resolved?</a:t>
            </a:r>
          </a:p>
          <a:p>
            <a:r>
              <a:rPr lang="en-US" dirty="0"/>
              <a:t>Any lessons learned?</a:t>
            </a:r>
          </a:p>
        </p:txBody>
      </p:sp>
      <p:sp>
        <p:nvSpPr>
          <p:cNvPr id="12" name="Freeform 6">
            <a:extLst>
              <a:ext uri="{FF2B5EF4-FFF2-40B4-BE49-F238E27FC236}">
                <a16:creationId xmlns:a16="http://schemas.microsoft.com/office/drawing/2014/main" id="{A101E513-AF74-4E9D-A31F-996642507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6257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8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5B419A7-F817-4767-8CCB-FB0E189C4A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12D766-775E-6702-6BEF-2E9A02262F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8992" y="2840853"/>
            <a:ext cx="9390888" cy="2640466"/>
          </a:xfrm>
        </p:spPr>
        <p:txBody>
          <a:bodyPr>
            <a:normAutofit/>
          </a:bodyPr>
          <a:lstStyle/>
          <a:p>
            <a:r>
              <a:rPr lang="en-US"/>
              <a:t>Thanks for watching our presentation!</a:t>
            </a:r>
            <a:endParaRPr lang="en-US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3B10E47-AF6B-4C8A-B458-3C6CAF2EBA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8560" y="2519118"/>
            <a:ext cx="1101344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6">
            <a:extLst>
              <a:ext uri="{FF2B5EF4-FFF2-40B4-BE49-F238E27FC236}">
                <a16:creationId xmlns:a16="http://schemas.microsoft.com/office/drawing/2014/main" id="{B3BE00DD-5F52-49B1-A83B-F2E555AC5D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167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HeadlinesVTI">
  <a:themeElements>
    <a:clrScheme name="Headlines">
      <a:dk1>
        <a:sysClr val="windowText" lastClr="000000"/>
      </a:dk1>
      <a:lt1>
        <a:sysClr val="window" lastClr="FFFFFF"/>
      </a:lt1>
      <a:dk2>
        <a:srgbClr val="232C41"/>
      </a:dk2>
      <a:lt2>
        <a:srgbClr val="F6F4EF"/>
      </a:lt2>
      <a:accent1>
        <a:srgbClr val="439EB7"/>
      </a:accent1>
      <a:accent2>
        <a:srgbClr val="E20E65"/>
      </a:accent2>
      <a:accent3>
        <a:srgbClr val="F59324"/>
      </a:accent3>
      <a:accent4>
        <a:srgbClr val="5046B9"/>
      </a:accent4>
      <a:accent5>
        <a:srgbClr val="5CB678"/>
      </a:accent5>
      <a:accent6>
        <a:srgbClr val="9717F7"/>
      </a:accent6>
      <a:hlink>
        <a:srgbClr val="E80095"/>
      </a:hlink>
      <a:folHlink>
        <a:srgbClr val="808080"/>
      </a:folHlink>
    </a:clrScheme>
    <a:fontScheme name="Custom 211">
      <a:majorFont>
        <a:latin typeface="Sitka Banner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8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6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adlinesVTI" id="{66EB4A02-0C0F-47F1-9F48-4E6882B9F967}" vid="{F3552358-4452-4FDA-9568-4F5DA32F7A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219</Words>
  <Application>Microsoft Macintosh PowerPoint</Application>
  <PresentationFormat>Widescreen</PresentationFormat>
  <Paragraphs>33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Avenir Next LT Pro</vt:lpstr>
      <vt:lpstr>Sitka Banner</vt:lpstr>
      <vt:lpstr>HeadlinesVTI</vt:lpstr>
      <vt:lpstr>Bacchus Winery Case Study</vt:lpstr>
      <vt:lpstr>Group Introduction</vt:lpstr>
      <vt:lpstr>Case Study Overview</vt:lpstr>
      <vt:lpstr>Key Database Requirements</vt:lpstr>
      <vt:lpstr>Finalized ERD</vt:lpstr>
      <vt:lpstr>Reports selected for generation</vt:lpstr>
      <vt:lpstr>Report 1: Expected vs Actual Supply Delivery</vt:lpstr>
      <vt:lpstr>Report 2: Change in Wine Purchases over Time</vt:lpstr>
      <vt:lpstr>Report 3: Employee Hours per week over the last period</vt:lpstr>
      <vt:lpstr>Assumptions Made</vt:lpstr>
      <vt:lpstr>Challenges and Resolutoins</vt:lpstr>
      <vt:lpstr>Thanks for watching our presentation!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Robert breutzmann</dc:creator>
  <cp:lastModifiedBy>Robert breutzmann</cp:lastModifiedBy>
  <cp:revision>1</cp:revision>
  <dcterms:created xsi:type="dcterms:W3CDTF">2025-12-10T02:37:12Z</dcterms:created>
  <dcterms:modified xsi:type="dcterms:W3CDTF">2025-12-10T03:01:40Z</dcterms:modified>
</cp:coreProperties>
</file>