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9"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64"/>
    <p:restoredTop sz="94708"/>
  </p:normalViewPr>
  <p:slideViewPr>
    <p:cSldViewPr snapToGrid="0">
      <p:cViewPr>
        <p:scale>
          <a:sx n="90" d="100"/>
          <a:sy n="90" d="100"/>
        </p:scale>
        <p:origin x="13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0B1320-49C8-4750-84A0-D345F0FE28AE}"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34E9577-BFF7-4015-AAFC-38DA75F1EB4F}">
      <dgm:prSet/>
      <dgm:spPr/>
      <dgm:t>
        <a:bodyPr/>
        <a:lstStyle/>
        <a:p>
          <a:r>
            <a:rPr lang="en-US"/>
            <a:t>Report to show difference in expected delivery of supplies and actual delivery of supplies.</a:t>
          </a:r>
        </a:p>
      </dgm:t>
    </dgm:pt>
    <dgm:pt modelId="{6BABF852-1474-406B-A4FF-F0CB6C323AF0}" type="parTrans" cxnId="{11DD1FE6-5EED-4F9A-9470-9785C71C5A44}">
      <dgm:prSet/>
      <dgm:spPr/>
      <dgm:t>
        <a:bodyPr/>
        <a:lstStyle/>
        <a:p>
          <a:endParaRPr lang="en-US"/>
        </a:p>
      </dgm:t>
    </dgm:pt>
    <dgm:pt modelId="{35540099-73F9-4DE6-91D3-777E5F3CA14D}" type="sibTrans" cxnId="{11DD1FE6-5EED-4F9A-9470-9785C71C5A44}">
      <dgm:prSet/>
      <dgm:spPr/>
      <dgm:t>
        <a:bodyPr/>
        <a:lstStyle/>
        <a:p>
          <a:endParaRPr lang="en-US"/>
        </a:p>
      </dgm:t>
    </dgm:pt>
    <dgm:pt modelId="{5D87FA5D-52E3-413B-8DF1-A886314C76DF}">
      <dgm:prSet/>
      <dgm:spPr/>
      <dgm:t>
        <a:bodyPr/>
        <a:lstStyle/>
        <a:p>
          <a:r>
            <a:rPr lang="en-US"/>
            <a:t>Report to show what wines the distributors are selling more or less of over time.</a:t>
          </a:r>
        </a:p>
      </dgm:t>
    </dgm:pt>
    <dgm:pt modelId="{D75FF63A-4259-4A1C-9514-B2B2B19CA3DD}" type="parTrans" cxnId="{A7E00DD3-7FC0-4E67-A183-C04216F37D25}">
      <dgm:prSet/>
      <dgm:spPr/>
      <dgm:t>
        <a:bodyPr/>
        <a:lstStyle/>
        <a:p>
          <a:endParaRPr lang="en-US"/>
        </a:p>
      </dgm:t>
    </dgm:pt>
    <dgm:pt modelId="{FBBDCCCA-0FCF-4C3C-B78A-ECD4C15565B0}" type="sibTrans" cxnId="{A7E00DD3-7FC0-4E67-A183-C04216F37D25}">
      <dgm:prSet/>
      <dgm:spPr/>
      <dgm:t>
        <a:bodyPr/>
        <a:lstStyle/>
        <a:p>
          <a:endParaRPr lang="en-US"/>
        </a:p>
      </dgm:t>
    </dgm:pt>
    <dgm:pt modelId="{7E171F7E-D449-4BD2-93F8-B298EB3A2E50}">
      <dgm:prSet/>
      <dgm:spPr/>
      <dgm:t>
        <a:bodyPr/>
        <a:lstStyle/>
        <a:p>
          <a:r>
            <a:rPr lang="en-US"/>
            <a:t>Report to show average number of hours worked each week by employees over a period of time.</a:t>
          </a:r>
        </a:p>
      </dgm:t>
    </dgm:pt>
    <dgm:pt modelId="{103D1361-33BF-4AFC-B0D3-26561580C6DE}" type="parTrans" cxnId="{34743A2C-BCF0-4264-84B8-07BE57D6C20F}">
      <dgm:prSet/>
      <dgm:spPr/>
      <dgm:t>
        <a:bodyPr/>
        <a:lstStyle/>
        <a:p>
          <a:endParaRPr lang="en-US"/>
        </a:p>
      </dgm:t>
    </dgm:pt>
    <dgm:pt modelId="{0A55850B-ACD2-4EC3-8F58-F9A12822E288}" type="sibTrans" cxnId="{34743A2C-BCF0-4264-84B8-07BE57D6C20F}">
      <dgm:prSet/>
      <dgm:spPr/>
      <dgm:t>
        <a:bodyPr/>
        <a:lstStyle/>
        <a:p>
          <a:endParaRPr lang="en-US"/>
        </a:p>
      </dgm:t>
    </dgm:pt>
    <dgm:pt modelId="{E6945879-8777-4ED3-84C7-53EE9A42B8AF}" type="pres">
      <dgm:prSet presAssocID="{A00B1320-49C8-4750-84A0-D345F0FE28AE}" presName="root" presStyleCnt="0">
        <dgm:presLayoutVars>
          <dgm:dir/>
          <dgm:resizeHandles val="exact"/>
        </dgm:presLayoutVars>
      </dgm:prSet>
      <dgm:spPr/>
    </dgm:pt>
    <dgm:pt modelId="{142AF062-D2D6-4618-85B7-CF46428C7EBC}" type="pres">
      <dgm:prSet presAssocID="{234E9577-BFF7-4015-AAFC-38DA75F1EB4F}" presName="compNode" presStyleCnt="0"/>
      <dgm:spPr/>
    </dgm:pt>
    <dgm:pt modelId="{1CB15066-AAC5-486B-B06B-543A3FE35844}" type="pres">
      <dgm:prSet presAssocID="{234E9577-BFF7-4015-AAFC-38DA75F1EB4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x trolley"/>
        </a:ext>
      </dgm:extLst>
    </dgm:pt>
    <dgm:pt modelId="{A863C5BB-1783-4F9A-99AD-021D69799958}" type="pres">
      <dgm:prSet presAssocID="{234E9577-BFF7-4015-AAFC-38DA75F1EB4F}" presName="spaceRect" presStyleCnt="0"/>
      <dgm:spPr/>
    </dgm:pt>
    <dgm:pt modelId="{ECFCB418-B400-422F-9F82-E26D8E4B0811}" type="pres">
      <dgm:prSet presAssocID="{234E9577-BFF7-4015-AAFC-38DA75F1EB4F}" presName="textRect" presStyleLbl="revTx" presStyleIdx="0" presStyleCnt="3">
        <dgm:presLayoutVars>
          <dgm:chMax val="1"/>
          <dgm:chPref val="1"/>
        </dgm:presLayoutVars>
      </dgm:prSet>
      <dgm:spPr/>
    </dgm:pt>
    <dgm:pt modelId="{5BA45129-F038-46E4-AB48-AA22DA516DEB}" type="pres">
      <dgm:prSet presAssocID="{35540099-73F9-4DE6-91D3-777E5F3CA14D}" presName="sibTrans" presStyleCnt="0"/>
      <dgm:spPr/>
    </dgm:pt>
    <dgm:pt modelId="{89D37E74-02DA-441C-BF0D-9558739A5867}" type="pres">
      <dgm:prSet presAssocID="{5D87FA5D-52E3-413B-8DF1-A886314C76DF}" presName="compNode" presStyleCnt="0"/>
      <dgm:spPr/>
    </dgm:pt>
    <dgm:pt modelId="{F387AB72-8AE8-46E2-8311-77EA799AFB76}" type="pres">
      <dgm:prSet presAssocID="{5D87FA5D-52E3-413B-8DF1-A886314C76D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apes"/>
        </a:ext>
      </dgm:extLst>
    </dgm:pt>
    <dgm:pt modelId="{AFD6A12E-8817-4DED-B729-45069BA41122}" type="pres">
      <dgm:prSet presAssocID="{5D87FA5D-52E3-413B-8DF1-A886314C76DF}" presName="spaceRect" presStyleCnt="0"/>
      <dgm:spPr/>
    </dgm:pt>
    <dgm:pt modelId="{A42E8547-2386-488A-8480-E79CF2F5FDAC}" type="pres">
      <dgm:prSet presAssocID="{5D87FA5D-52E3-413B-8DF1-A886314C76DF}" presName="textRect" presStyleLbl="revTx" presStyleIdx="1" presStyleCnt="3">
        <dgm:presLayoutVars>
          <dgm:chMax val="1"/>
          <dgm:chPref val="1"/>
        </dgm:presLayoutVars>
      </dgm:prSet>
      <dgm:spPr/>
    </dgm:pt>
    <dgm:pt modelId="{9216CA46-4135-47F5-AEE3-1F1FCA2B52B4}" type="pres">
      <dgm:prSet presAssocID="{FBBDCCCA-0FCF-4C3C-B78A-ECD4C15565B0}" presName="sibTrans" presStyleCnt="0"/>
      <dgm:spPr/>
    </dgm:pt>
    <dgm:pt modelId="{E2AB836F-BA48-4648-9C2F-A6C63F9A453E}" type="pres">
      <dgm:prSet presAssocID="{7E171F7E-D449-4BD2-93F8-B298EB3A2E50}" presName="compNode" presStyleCnt="0"/>
      <dgm:spPr/>
    </dgm:pt>
    <dgm:pt modelId="{6530D6E0-A2CB-4031-A192-B54E747194EA}" type="pres">
      <dgm:prSet presAssocID="{7E171F7E-D449-4BD2-93F8-B298EB3A2E5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ck"/>
        </a:ext>
      </dgm:extLst>
    </dgm:pt>
    <dgm:pt modelId="{6DACCBBA-5D33-4492-BE25-F0009A7E7097}" type="pres">
      <dgm:prSet presAssocID="{7E171F7E-D449-4BD2-93F8-B298EB3A2E50}" presName="spaceRect" presStyleCnt="0"/>
      <dgm:spPr/>
    </dgm:pt>
    <dgm:pt modelId="{D87A7D52-2D94-4C1F-9667-5BB37499E376}" type="pres">
      <dgm:prSet presAssocID="{7E171F7E-D449-4BD2-93F8-B298EB3A2E50}" presName="textRect" presStyleLbl="revTx" presStyleIdx="2" presStyleCnt="3">
        <dgm:presLayoutVars>
          <dgm:chMax val="1"/>
          <dgm:chPref val="1"/>
        </dgm:presLayoutVars>
      </dgm:prSet>
      <dgm:spPr/>
    </dgm:pt>
  </dgm:ptLst>
  <dgm:cxnLst>
    <dgm:cxn modelId="{34743A2C-BCF0-4264-84B8-07BE57D6C20F}" srcId="{A00B1320-49C8-4750-84A0-D345F0FE28AE}" destId="{7E171F7E-D449-4BD2-93F8-B298EB3A2E50}" srcOrd="2" destOrd="0" parTransId="{103D1361-33BF-4AFC-B0D3-26561580C6DE}" sibTransId="{0A55850B-ACD2-4EC3-8F58-F9A12822E288}"/>
    <dgm:cxn modelId="{DE92E57B-65B4-4118-9757-9E57DC8BA7D8}" type="presOf" srcId="{234E9577-BFF7-4015-AAFC-38DA75F1EB4F}" destId="{ECFCB418-B400-422F-9F82-E26D8E4B0811}" srcOrd="0" destOrd="0" presId="urn:microsoft.com/office/officeart/2018/2/layout/IconLabelList"/>
    <dgm:cxn modelId="{3C0711B3-E4EA-4FCA-8B00-4B40C62D51BA}" type="presOf" srcId="{7E171F7E-D449-4BD2-93F8-B298EB3A2E50}" destId="{D87A7D52-2D94-4C1F-9667-5BB37499E376}" srcOrd="0" destOrd="0" presId="urn:microsoft.com/office/officeart/2018/2/layout/IconLabelList"/>
    <dgm:cxn modelId="{A7E00DD3-7FC0-4E67-A183-C04216F37D25}" srcId="{A00B1320-49C8-4750-84A0-D345F0FE28AE}" destId="{5D87FA5D-52E3-413B-8DF1-A886314C76DF}" srcOrd="1" destOrd="0" parTransId="{D75FF63A-4259-4A1C-9514-B2B2B19CA3DD}" sibTransId="{FBBDCCCA-0FCF-4C3C-B78A-ECD4C15565B0}"/>
    <dgm:cxn modelId="{8CFA3BDC-12D0-4D27-B58B-EFB59374697C}" type="presOf" srcId="{5D87FA5D-52E3-413B-8DF1-A886314C76DF}" destId="{A42E8547-2386-488A-8480-E79CF2F5FDAC}" srcOrd="0" destOrd="0" presId="urn:microsoft.com/office/officeart/2018/2/layout/IconLabelList"/>
    <dgm:cxn modelId="{11DD1FE6-5EED-4F9A-9470-9785C71C5A44}" srcId="{A00B1320-49C8-4750-84A0-D345F0FE28AE}" destId="{234E9577-BFF7-4015-AAFC-38DA75F1EB4F}" srcOrd="0" destOrd="0" parTransId="{6BABF852-1474-406B-A4FF-F0CB6C323AF0}" sibTransId="{35540099-73F9-4DE6-91D3-777E5F3CA14D}"/>
    <dgm:cxn modelId="{CEB134F8-8271-4C35-8DF6-0A5747E5C7BE}" type="presOf" srcId="{A00B1320-49C8-4750-84A0-D345F0FE28AE}" destId="{E6945879-8777-4ED3-84C7-53EE9A42B8AF}" srcOrd="0" destOrd="0" presId="urn:microsoft.com/office/officeart/2018/2/layout/IconLabelList"/>
    <dgm:cxn modelId="{D880A6C8-C5E0-4FBE-AB08-259450EE6C9F}" type="presParOf" srcId="{E6945879-8777-4ED3-84C7-53EE9A42B8AF}" destId="{142AF062-D2D6-4618-85B7-CF46428C7EBC}" srcOrd="0" destOrd="0" presId="urn:microsoft.com/office/officeart/2018/2/layout/IconLabelList"/>
    <dgm:cxn modelId="{DC3A1AF6-260F-4124-A42A-4FD877BD0961}" type="presParOf" srcId="{142AF062-D2D6-4618-85B7-CF46428C7EBC}" destId="{1CB15066-AAC5-486B-B06B-543A3FE35844}" srcOrd="0" destOrd="0" presId="urn:microsoft.com/office/officeart/2018/2/layout/IconLabelList"/>
    <dgm:cxn modelId="{6A95310B-EB48-400C-B3A9-570E13929F48}" type="presParOf" srcId="{142AF062-D2D6-4618-85B7-CF46428C7EBC}" destId="{A863C5BB-1783-4F9A-99AD-021D69799958}" srcOrd="1" destOrd="0" presId="urn:microsoft.com/office/officeart/2018/2/layout/IconLabelList"/>
    <dgm:cxn modelId="{C39FD1F6-03DC-4309-8FE0-B325A45CC945}" type="presParOf" srcId="{142AF062-D2D6-4618-85B7-CF46428C7EBC}" destId="{ECFCB418-B400-422F-9F82-E26D8E4B0811}" srcOrd="2" destOrd="0" presId="urn:microsoft.com/office/officeart/2018/2/layout/IconLabelList"/>
    <dgm:cxn modelId="{5FA864B4-7ED6-4194-BE68-B8C3AF8D812C}" type="presParOf" srcId="{E6945879-8777-4ED3-84C7-53EE9A42B8AF}" destId="{5BA45129-F038-46E4-AB48-AA22DA516DEB}" srcOrd="1" destOrd="0" presId="urn:microsoft.com/office/officeart/2018/2/layout/IconLabelList"/>
    <dgm:cxn modelId="{BD95813C-2E46-442F-B701-341A1E679695}" type="presParOf" srcId="{E6945879-8777-4ED3-84C7-53EE9A42B8AF}" destId="{89D37E74-02DA-441C-BF0D-9558739A5867}" srcOrd="2" destOrd="0" presId="urn:microsoft.com/office/officeart/2018/2/layout/IconLabelList"/>
    <dgm:cxn modelId="{9EAAF5B9-4233-45D6-BE22-397A8C661773}" type="presParOf" srcId="{89D37E74-02DA-441C-BF0D-9558739A5867}" destId="{F387AB72-8AE8-46E2-8311-77EA799AFB76}" srcOrd="0" destOrd="0" presId="urn:microsoft.com/office/officeart/2018/2/layout/IconLabelList"/>
    <dgm:cxn modelId="{D1675F6B-4987-4AC3-BCC2-FD745F073359}" type="presParOf" srcId="{89D37E74-02DA-441C-BF0D-9558739A5867}" destId="{AFD6A12E-8817-4DED-B729-45069BA41122}" srcOrd="1" destOrd="0" presId="urn:microsoft.com/office/officeart/2018/2/layout/IconLabelList"/>
    <dgm:cxn modelId="{CD9476AF-DB1C-4BF0-994E-2C5CE6263FB3}" type="presParOf" srcId="{89D37E74-02DA-441C-BF0D-9558739A5867}" destId="{A42E8547-2386-488A-8480-E79CF2F5FDAC}" srcOrd="2" destOrd="0" presId="urn:microsoft.com/office/officeart/2018/2/layout/IconLabelList"/>
    <dgm:cxn modelId="{31026593-5051-4ED1-820A-D4C1EA0BFD8D}" type="presParOf" srcId="{E6945879-8777-4ED3-84C7-53EE9A42B8AF}" destId="{9216CA46-4135-47F5-AEE3-1F1FCA2B52B4}" srcOrd="3" destOrd="0" presId="urn:microsoft.com/office/officeart/2018/2/layout/IconLabelList"/>
    <dgm:cxn modelId="{A36BFA6A-F5EC-495C-9034-F6499C42528A}" type="presParOf" srcId="{E6945879-8777-4ED3-84C7-53EE9A42B8AF}" destId="{E2AB836F-BA48-4648-9C2F-A6C63F9A453E}" srcOrd="4" destOrd="0" presId="urn:microsoft.com/office/officeart/2018/2/layout/IconLabelList"/>
    <dgm:cxn modelId="{597770A5-CC68-4FA3-8C84-72B4F7E5EA5D}" type="presParOf" srcId="{E2AB836F-BA48-4648-9C2F-A6C63F9A453E}" destId="{6530D6E0-A2CB-4031-A192-B54E747194EA}" srcOrd="0" destOrd="0" presId="urn:microsoft.com/office/officeart/2018/2/layout/IconLabelList"/>
    <dgm:cxn modelId="{8E7F819A-5EBE-4333-9E45-EC0F65243FB9}" type="presParOf" srcId="{E2AB836F-BA48-4648-9C2F-A6C63F9A453E}" destId="{6DACCBBA-5D33-4492-BE25-F0009A7E7097}" srcOrd="1" destOrd="0" presId="urn:microsoft.com/office/officeart/2018/2/layout/IconLabelList"/>
    <dgm:cxn modelId="{5D90E117-35D0-4B15-9F85-0A674446C30D}" type="presParOf" srcId="{E2AB836F-BA48-4648-9C2F-A6C63F9A453E}" destId="{D87A7D52-2D94-4C1F-9667-5BB37499E37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B15066-AAC5-486B-B06B-543A3FE35844}">
      <dsp:nvSpPr>
        <dsp:cNvPr id="0" name=""/>
        <dsp:cNvSpPr/>
      </dsp:nvSpPr>
      <dsp:spPr>
        <a:xfrm>
          <a:off x="1263090" y="394853"/>
          <a:ext cx="1308996" cy="13089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CB418-B400-422F-9F82-E26D8E4B0811}">
      <dsp:nvSpPr>
        <dsp:cNvPr id="0" name=""/>
        <dsp:cNvSpPr/>
      </dsp:nvSpPr>
      <dsp:spPr>
        <a:xfrm>
          <a:off x="463148" y="2061988"/>
          <a:ext cx="290888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Report to show difference in expected delivery of supplies and actual delivery of supplies.</a:t>
          </a:r>
        </a:p>
      </dsp:txBody>
      <dsp:txXfrm>
        <a:off x="463148" y="2061988"/>
        <a:ext cx="2908881" cy="720000"/>
      </dsp:txXfrm>
    </dsp:sp>
    <dsp:sp modelId="{F387AB72-8AE8-46E2-8311-77EA799AFB76}">
      <dsp:nvSpPr>
        <dsp:cNvPr id="0" name=""/>
        <dsp:cNvSpPr/>
      </dsp:nvSpPr>
      <dsp:spPr>
        <a:xfrm>
          <a:off x="4681025" y="394853"/>
          <a:ext cx="1308996" cy="13089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2E8547-2386-488A-8480-E79CF2F5FDAC}">
      <dsp:nvSpPr>
        <dsp:cNvPr id="0" name=""/>
        <dsp:cNvSpPr/>
      </dsp:nvSpPr>
      <dsp:spPr>
        <a:xfrm>
          <a:off x="3881083" y="2061988"/>
          <a:ext cx="290888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Report to show what wines the distributors are selling more or less of over time.</a:t>
          </a:r>
        </a:p>
      </dsp:txBody>
      <dsp:txXfrm>
        <a:off x="3881083" y="2061988"/>
        <a:ext cx="2908881" cy="720000"/>
      </dsp:txXfrm>
    </dsp:sp>
    <dsp:sp modelId="{6530D6E0-A2CB-4031-A192-B54E747194EA}">
      <dsp:nvSpPr>
        <dsp:cNvPr id="0" name=""/>
        <dsp:cNvSpPr/>
      </dsp:nvSpPr>
      <dsp:spPr>
        <a:xfrm>
          <a:off x="8098960" y="394853"/>
          <a:ext cx="1308996" cy="13089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7A7D52-2D94-4C1F-9667-5BB37499E376}">
      <dsp:nvSpPr>
        <dsp:cNvPr id="0" name=""/>
        <dsp:cNvSpPr/>
      </dsp:nvSpPr>
      <dsp:spPr>
        <a:xfrm>
          <a:off x="7299018" y="2061988"/>
          <a:ext cx="290888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Report to show average number of hours worked each week by employees over a period of time.</a:t>
          </a:r>
        </a:p>
      </dsp:txBody>
      <dsp:txXfrm>
        <a:off x="7299018" y="2061988"/>
        <a:ext cx="2908881"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10" name="Freeform 6" title="Page Number Shape">
            <a:extLst>
              <a:ext uri="{FF2B5EF4-FFF2-40B4-BE49-F238E27FC236}">
                <a16:creationId xmlns:a16="http://schemas.microsoft.com/office/drawing/2014/main" id="{DD4C4B28-6B4B-4445-8535-F516D74E4AA9}"/>
              </a:ext>
            </a:extLst>
          </p:cNvPr>
          <p:cNvSpPr/>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12" name="Straight Connector 11" title="Verticle Rule Line">
            <a:extLst>
              <a:ext uri="{FF2B5EF4-FFF2-40B4-BE49-F238E27FC236}">
                <a16:creationId xmlns:a16="http://schemas.microsoft.com/office/drawing/2014/main" id="{0CB1C732-7193-4253-8746-850D090A6B4E}"/>
              </a:ext>
            </a:extLst>
          </p:cNvPr>
          <p:cNvCxnSpPr>
            <a:cxnSpLocks/>
          </p:cNvCxnSpPr>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3AA199-952B-427F-A5BE-B97D25FD0733}"/>
              </a:ext>
            </a:extLst>
          </p:cNvPr>
          <p:cNvSpPr>
            <a:spLocks noGrp="1"/>
          </p:cNvSpPr>
          <p:nvPr>
            <p:ph type="ctrTitle"/>
          </p:nvPr>
        </p:nvSpPr>
        <p:spPr>
          <a:xfrm>
            <a:off x="1078992" y="1143000"/>
            <a:ext cx="6720840" cy="3730752"/>
          </a:xfrm>
        </p:spPr>
        <p:txBody>
          <a:bodyPr anchor="t">
            <a:normAutofit/>
          </a:bodyPr>
          <a:lstStyle>
            <a:lvl1pPr algn="l">
              <a:defRPr sz="72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A1AA393-A876-475F-A05B-1CCAB6C1F089}"/>
              </a:ext>
            </a:extLst>
          </p:cNvPr>
          <p:cNvSpPr>
            <a:spLocks noGrp="1"/>
          </p:cNvSpPr>
          <p:nvPr>
            <p:ph type="subTitle" idx="1"/>
          </p:nvPr>
        </p:nvSpPr>
        <p:spPr>
          <a:xfrm>
            <a:off x="1078992" y="5010912"/>
            <a:ext cx="6720840" cy="704088"/>
          </a:xfrm>
        </p:spPr>
        <p:txBody>
          <a:bodyPr>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3395621-D631-4F31-AEEF-C8574E507372}"/>
              </a:ext>
            </a:extLst>
          </p:cNvPr>
          <p:cNvSpPr>
            <a:spLocks noGrp="1"/>
          </p:cNvSpPr>
          <p:nvPr>
            <p:ph type="dt" sz="half" idx="10"/>
          </p:nvPr>
        </p:nvSpPr>
        <p:spPr>
          <a:xfrm>
            <a:off x="8286356" y="6007608"/>
            <a:ext cx="3143643" cy="365125"/>
          </a:xfrm>
        </p:spPr>
        <p:txBody>
          <a:bodyPr/>
          <a:lstStyle/>
          <a:p>
            <a:fld id="{53BEF823-48A5-43FC-BE03-E79964288B41}" type="datetimeFigureOut">
              <a:rPr lang="en-US" smtClean="0"/>
              <a:t>12/10/2025</a:t>
            </a:fld>
            <a:endParaRPr lang="en-US" dirty="0"/>
          </a:p>
        </p:txBody>
      </p:sp>
      <p:sp>
        <p:nvSpPr>
          <p:cNvPr id="5" name="Footer Placeholder 4">
            <a:extLst>
              <a:ext uri="{FF2B5EF4-FFF2-40B4-BE49-F238E27FC236}">
                <a16:creationId xmlns:a16="http://schemas.microsoft.com/office/drawing/2014/main" id="{305EE125-77AD-4E23-AFB7-C5CFDEACACF1}"/>
              </a:ext>
            </a:extLst>
          </p:cNvPr>
          <p:cNvSpPr>
            <a:spLocks noGrp="1"/>
          </p:cNvSpPr>
          <p:nvPr>
            <p:ph type="ftr" sz="quarter" idx="11"/>
          </p:nvPr>
        </p:nvSpPr>
        <p:spPr>
          <a:xfrm>
            <a:off x="1078991" y="6007608"/>
            <a:ext cx="6720837" cy="365125"/>
          </a:xfrm>
        </p:spPr>
        <p:txBody>
          <a:bodyPr/>
          <a:lstStyle/>
          <a:p>
            <a:endParaRPr lang="en-US" dirty="0"/>
          </a:p>
        </p:txBody>
      </p:sp>
      <p:sp>
        <p:nvSpPr>
          <p:cNvPr id="6" name="Slide Number Placeholder 5">
            <a:extLst>
              <a:ext uri="{FF2B5EF4-FFF2-40B4-BE49-F238E27FC236}">
                <a16:creationId xmlns:a16="http://schemas.microsoft.com/office/drawing/2014/main" id="{DC569682-B530-4F52-87B9-39464A0930B3}"/>
              </a:ext>
            </a:extLst>
          </p:cNvPr>
          <p:cNvSpPr>
            <a:spLocks noGrp="1"/>
          </p:cNvSpPr>
          <p:nvPr>
            <p:ph type="sldNum" sz="quarter" idx="12"/>
          </p:nvPr>
        </p:nvSpPr>
        <p:spPr/>
        <p:txBody>
          <a:bodyPr/>
          <a:lstStyle>
            <a:lvl1pPr algn="ctr">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33133843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12/10/2025</a:t>
            </a:fld>
            <a:endParaRPr lang="en-US" dirty="0"/>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605288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2EE-D9FC-4E51-9BFF-141F9192339F}"/>
              </a:ext>
            </a:extLst>
          </p:cNvPr>
          <p:cNvSpPr>
            <a:spLocks noGrp="1"/>
          </p:cNvSpPr>
          <p:nvPr>
            <p:ph type="title"/>
          </p:nvPr>
        </p:nvSpPr>
        <p:spPr>
          <a:xfrm>
            <a:off x="763051" y="2414016"/>
            <a:ext cx="10666949" cy="3099816"/>
          </a:xfrm>
        </p:spPr>
        <p:txBody>
          <a:bodyPr anchor="t"/>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1E086C4-4949-4E7A-A182-6709496A1C38}"/>
              </a:ext>
            </a:extLst>
          </p:cNvPr>
          <p:cNvSpPr>
            <a:spLocks noGrp="1"/>
          </p:cNvSpPr>
          <p:nvPr>
            <p:ph type="body" idx="1"/>
          </p:nvPr>
        </p:nvSpPr>
        <p:spPr>
          <a:xfrm>
            <a:off x="758952" y="1389888"/>
            <a:ext cx="10671048" cy="822960"/>
          </a:xfrm>
        </p:spPr>
        <p:txBody>
          <a:bodyPr anchor="ctr">
            <a:normAutofit/>
          </a:bodyPr>
          <a:lstStyle>
            <a:lvl1pPr marL="0" indent="0">
              <a:buNone/>
              <a:defRPr sz="2000" i="1">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D12BC88-6A2B-4851-9568-23A4B74D9F98}"/>
              </a:ext>
            </a:extLst>
          </p:cNvPr>
          <p:cNvSpPr>
            <a:spLocks noGrp="1"/>
          </p:cNvSpPr>
          <p:nvPr>
            <p:ph type="dt" sz="half" idx="10"/>
          </p:nvPr>
        </p:nvSpPr>
        <p:spPr/>
        <p:txBody>
          <a:bodyPr/>
          <a:lstStyle/>
          <a:p>
            <a:pPr algn="r"/>
            <a:fld id="{53BEF823-48A5-43FC-BE03-E79964288B41}" type="datetimeFigureOut">
              <a:rPr lang="en-US" smtClean="0"/>
              <a:pPr algn="r"/>
              <a:t>12/10/2025</a:t>
            </a:fld>
            <a:endParaRPr lang="en-US" dirty="0"/>
          </a:p>
        </p:txBody>
      </p:sp>
      <p:sp>
        <p:nvSpPr>
          <p:cNvPr id="8" name="Footer Placeholder 7">
            <a:extLst>
              <a:ext uri="{FF2B5EF4-FFF2-40B4-BE49-F238E27FC236}">
                <a16:creationId xmlns:a16="http://schemas.microsoft.com/office/drawing/2014/main" id="{D882CFE5-65C3-4F46-9141-4645455947D2}"/>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5321B390-4E13-4481-AC02-FF126656C4C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750857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E02F8-47BB-4D30-8EFE-69C9222D9EC4}"/>
              </a:ext>
            </a:extLst>
          </p:cNvPr>
          <p:cNvSpPr>
            <a:spLocks noGrp="1"/>
          </p:cNvSpPr>
          <p:nvPr>
            <p:ph sz="half" idx="1"/>
          </p:nvPr>
        </p:nvSpPr>
        <p:spPr>
          <a:xfrm>
            <a:off x="5184648" y="758952"/>
            <a:ext cx="6245352" cy="224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A844D33-6BF0-4205-A542-8537E3515938}"/>
              </a:ext>
            </a:extLst>
          </p:cNvPr>
          <p:cNvSpPr>
            <a:spLocks noGrp="1"/>
          </p:cNvSpPr>
          <p:nvPr>
            <p:ph sz="half" idx="2"/>
          </p:nvPr>
        </p:nvSpPr>
        <p:spPr>
          <a:xfrm>
            <a:off x="5184647" y="3273551"/>
            <a:ext cx="6245351" cy="224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D6953A83-D2BE-4015-8D64-BE93DDFE5D21}"/>
              </a:ext>
            </a:extLst>
          </p:cNvPr>
          <p:cNvSpPr>
            <a:spLocks noGrp="1"/>
          </p:cNvSpPr>
          <p:nvPr>
            <p:ph type="dt" sz="half" idx="10"/>
          </p:nvPr>
        </p:nvSpPr>
        <p:spPr/>
        <p:txBody>
          <a:bodyPr/>
          <a:lstStyle/>
          <a:p>
            <a:pPr algn="r"/>
            <a:fld id="{53BEF823-48A5-43FC-BE03-E79964288B41}" type="datetimeFigureOut">
              <a:rPr lang="en-US" smtClean="0"/>
              <a:pPr algn="r"/>
              <a:t>12/10/2025</a:t>
            </a:fld>
            <a:endParaRPr lang="en-US" dirty="0"/>
          </a:p>
        </p:txBody>
      </p:sp>
      <p:sp>
        <p:nvSpPr>
          <p:cNvPr id="10" name="Footer Placeholder 9">
            <a:extLst>
              <a:ext uri="{FF2B5EF4-FFF2-40B4-BE49-F238E27FC236}">
                <a16:creationId xmlns:a16="http://schemas.microsoft.com/office/drawing/2014/main" id="{BA849E67-05F9-4033-B033-74D6B8C8E77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DFAAC6AA-CFFB-438F-9327-DDB023E2E14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5" name="Title 4">
            <a:extLst>
              <a:ext uri="{FF2B5EF4-FFF2-40B4-BE49-F238E27FC236}">
                <a16:creationId xmlns:a16="http://schemas.microsoft.com/office/drawing/2014/main" id="{BA4960CB-ABA7-4442-AB15-FE444F23C6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88884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348291-9C7D-407E-8D07-FA3A323EA973}"/>
              </a:ext>
            </a:extLst>
          </p:cNvPr>
          <p:cNvSpPr>
            <a:spLocks noGrp="1"/>
          </p:cNvSpPr>
          <p:nvPr>
            <p:ph type="body" idx="1"/>
          </p:nvPr>
        </p:nvSpPr>
        <p:spPr>
          <a:xfrm>
            <a:off x="5184648" y="758952"/>
            <a:ext cx="6245352"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92D2-8BA6-4A4D-814D-AD37A2A10AC8}"/>
              </a:ext>
            </a:extLst>
          </p:cNvPr>
          <p:cNvSpPr>
            <a:spLocks noGrp="1"/>
          </p:cNvSpPr>
          <p:nvPr>
            <p:ph sz="half" idx="2"/>
          </p:nvPr>
        </p:nvSpPr>
        <p:spPr>
          <a:xfrm>
            <a:off x="5190323" y="1377198"/>
            <a:ext cx="6239675"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6FD4BC-C948-41C4-BA24-5D26147E1C97}"/>
              </a:ext>
            </a:extLst>
          </p:cNvPr>
          <p:cNvSpPr>
            <a:spLocks noGrp="1"/>
          </p:cNvSpPr>
          <p:nvPr>
            <p:ph type="body" sz="quarter" idx="3"/>
          </p:nvPr>
        </p:nvSpPr>
        <p:spPr>
          <a:xfrm>
            <a:off x="5184647" y="3319548"/>
            <a:ext cx="6245351"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2E359C-F73D-4F1B-9F9A-6D628567105D}"/>
              </a:ext>
            </a:extLst>
          </p:cNvPr>
          <p:cNvSpPr>
            <a:spLocks noGrp="1"/>
          </p:cNvSpPr>
          <p:nvPr>
            <p:ph sz="quarter" idx="4"/>
          </p:nvPr>
        </p:nvSpPr>
        <p:spPr>
          <a:xfrm>
            <a:off x="5184646" y="3932372"/>
            <a:ext cx="6245352"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a:extLst>
              <a:ext uri="{FF2B5EF4-FFF2-40B4-BE49-F238E27FC236}">
                <a16:creationId xmlns:a16="http://schemas.microsoft.com/office/drawing/2014/main" id="{D76B63AE-38FF-40DD-A543-32DD98E6BDB2}"/>
              </a:ext>
            </a:extLst>
          </p:cNvPr>
          <p:cNvSpPr>
            <a:spLocks noGrp="1"/>
          </p:cNvSpPr>
          <p:nvPr>
            <p:ph type="title"/>
          </p:nvPr>
        </p:nvSpPr>
        <p:spPr/>
        <p:txBody>
          <a:body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C686C0EB-E082-4BAB-99E8-B42F3C28B20F}"/>
              </a:ext>
            </a:extLst>
          </p:cNvPr>
          <p:cNvSpPr>
            <a:spLocks noGrp="1"/>
          </p:cNvSpPr>
          <p:nvPr>
            <p:ph type="dt" sz="half" idx="10"/>
          </p:nvPr>
        </p:nvSpPr>
        <p:spPr/>
        <p:txBody>
          <a:bodyPr/>
          <a:lstStyle/>
          <a:p>
            <a:pPr algn="r"/>
            <a:fld id="{53BEF823-48A5-43FC-BE03-E79964288B41}" type="datetimeFigureOut">
              <a:rPr lang="en-US" smtClean="0"/>
              <a:pPr algn="r"/>
              <a:t>12/10/2025</a:t>
            </a:fld>
            <a:endParaRPr lang="en-US" dirty="0"/>
          </a:p>
        </p:txBody>
      </p:sp>
      <p:sp>
        <p:nvSpPr>
          <p:cNvPr id="13" name="Footer Placeholder 12">
            <a:extLst>
              <a:ext uri="{FF2B5EF4-FFF2-40B4-BE49-F238E27FC236}">
                <a16:creationId xmlns:a16="http://schemas.microsoft.com/office/drawing/2014/main" id="{B3CB0152-BA1F-48C7-A66F-3ADB51C94B97}"/>
              </a:ext>
            </a:extLst>
          </p:cNvPr>
          <p:cNvSpPr>
            <a:spLocks noGrp="1"/>
          </p:cNvSpPr>
          <p:nvPr>
            <p:ph type="ftr" sz="quarter" idx="11"/>
          </p:nvPr>
        </p:nvSpPr>
        <p:spPr/>
        <p:txBody>
          <a:bodyPr/>
          <a:lstStyle/>
          <a:p>
            <a:pPr algn="l"/>
            <a:endParaRPr lang="en-US" dirty="0"/>
          </a:p>
        </p:txBody>
      </p:sp>
      <p:sp>
        <p:nvSpPr>
          <p:cNvPr id="14" name="Slide Number Placeholder 13">
            <a:extLst>
              <a:ext uri="{FF2B5EF4-FFF2-40B4-BE49-F238E27FC236}">
                <a16:creationId xmlns:a16="http://schemas.microsoft.com/office/drawing/2014/main" id="{BD1C21B3-5CF6-415F-8295-EED3DF5CB55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573389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70D5-4EB9-4410-A8AE-6D85F19239FF}"/>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5887FB59-BA77-4864-B9E8-994851250CB4}"/>
              </a:ext>
            </a:extLst>
          </p:cNvPr>
          <p:cNvSpPr>
            <a:spLocks noGrp="1"/>
          </p:cNvSpPr>
          <p:nvPr>
            <p:ph type="dt" sz="half" idx="10"/>
          </p:nvPr>
        </p:nvSpPr>
        <p:spPr/>
        <p:txBody>
          <a:bodyPr/>
          <a:lstStyle/>
          <a:p>
            <a:pPr algn="r"/>
            <a:fld id="{53BEF823-48A5-43FC-BE03-E79964288B41}" type="datetimeFigureOut">
              <a:rPr lang="en-US" smtClean="0"/>
              <a:pPr algn="r"/>
              <a:t>12/10/2025</a:t>
            </a:fld>
            <a:endParaRPr lang="en-US" dirty="0"/>
          </a:p>
        </p:txBody>
      </p:sp>
      <p:sp>
        <p:nvSpPr>
          <p:cNvPr id="7" name="Footer Placeholder 6">
            <a:extLst>
              <a:ext uri="{FF2B5EF4-FFF2-40B4-BE49-F238E27FC236}">
                <a16:creationId xmlns:a16="http://schemas.microsoft.com/office/drawing/2014/main" id="{B6F0BC0B-BA67-455B-B567-1473DF0628BE}"/>
              </a:ext>
            </a:extLst>
          </p:cNvPr>
          <p:cNvSpPr>
            <a:spLocks noGrp="1"/>
          </p:cNvSpPr>
          <p:nvPr>
            <p:ph type="ftr" sz="quarter" idx="11"/>
          </p:nvPr>
        </p:nvSpPr>
        <p:spPr/>
        <p:txBody>
          <a:bodyPr/>
          <a:lstStyle/>
          <a:p>
            <a:pPr algn="l"/>
            <a:endParaRPr lang="en-US" dirty="0"/>
          </a:p>
        </p:txBody>
      </p:sp>
      <p:sp>
        <p:nvSpPr>
          <p:cNvPr id="8" name="Slide Number Placeholder 7">
            <a:extLst>
              <a:ext uri="{FF2B5EF4-FFF2-40B4-BE49-F238E27FC236}">
                <a16:creationId xmlns:a16="http://schemas.microsoft.com/office/drawing/2014/main" id="{2CF0BCF3-6FB5-4529-AA6A-A31467351EF5}"/>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749838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BF1315B-6865-4A5A-91C1-B75339038903}"/>
              </a:ext>
            </a:extLst>
          </p:cNvPr>
          <p:cNvSpPr>
            <a:spLocks noGrp="1"/>
          </p:cNvSpPr>
          <p:nvPr>
            <p:ph type="dt" sz="half" idx="10"/>
          </p:nvPr>
        </p:nvSpPr>
        <p:spPr/>
        <p:txBody>
          <a:bodyPr/>
          <a:lstStyle/>
          <a:p>
            <a:pPr algn="r"/>
            <a:fld id="{53BEF823-48A5-43FC-BE03-E79964288B41}" type="datetimeFigureOut">
              <a:rPr lang="en-US" smtClean="0"/>
              <a:pPr algn="r"/>
              <a:t>12/10/2025</a:t>
            </a:fld>
            <a:endParaRPr lang="en-US" dirty="0"/>
          </a:p>
        </p:txBody>
      </p:sp>
      <p:sp>
        <p:nvSpPr>
          <p:cNvPr id="6" name="Footer Placeholder 5">
            <a:extLst>
              <a:ext uri="{FF2B5EF4-FFF2-40B4-BE49-F238E27FC236}">
                <a16:creationId xmlns:a16="http://schemas.microsoft.com/office/drawing/2014/main" id="{DD536720-08C7-43DE-8EB5-CAB52D0E96B1}"/>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6D2477AF-B012-491C-AE42-22DE1203BE8D}"/>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308260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183AC-72A9-43F5-A1B3-1D7A6A4C7EEB}"/>
              </a:ext>
            </a:extLst>
          </p:cNvPr>
          <p:cNvSpPr>
            <a:spLocks noGrp="1"/>
          </p:cNvSpPr>
          <p:nvPr>
            <p:ph idx="1"/>
          </p:nvPr>
        </p:nvSpPr>
        <p:spPr>
          <a:xfrm>
            <a:off x="5183188" y="758951"/>
            <a:ext cx="6245352" cy="475488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4045592-52ED-4270-ACBB-BCC528DAC407}"/>
              </a:ext>
            </a:extLst>
          </p:cNvPr>
          <p:cNvSpPr>
            <a:spLocks noGrp="1"/>
          </p:cNvSpPr>
          <p:nvPr>
            <p:ph type="body" sz="half" idx="2"/>
          </p:nvPr>
        </p:nvSpPr>
        <p:spPr>
          <a:xfrm>
            <a:off x="758953" y="3815080"/>
            <a:ext cx="3831336" cy="169875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99A93518-F9B5-418F-9883-BEF8359B045A}"/>
              </a:ext>
            </a:extLst>
          </p:cNvPr>
          <p:cNvSpPr>
            <a:spLocks noGrp="1"/>
          </p:cNvSpPr>
          <p:nvPr>
            <p:ph type="dt" sz="half" idx="10"/>
          </p:nvPr>
        </p:nvSpPr>
        <p:spPr/>
        <p:txBody>
          <a:bodyPr/>
          <a:lstStyle/>
          <a:p>
            <a:pPr algn="r"/>
            <a:fld id="{53BEF823-48A5-43FC-BE03-E79964288B41}" type="datetimeFigureOut">
              <a:rPr lang="en-US" smtClean="0"/>
              <a:pPr algn="r"/>
              <a:t>12/10/2025</a:t>
            </a:fld>
            <a:endParaRPr lang="en-US" dirty="0"/>
          </a:p>
        </p:txBody>
      </p:sp>
      <p:sp>
        <p:nvSpPr>
          <p:cNvPr id="10" name="Footer Placeholder 9">
            <a:extLst>
              <a:ext uri="{FF2B5EF4-FFF2-40B4-BE49-F238E27FC236}">
                <a16:creationId xmlns:a16="http://schemas.microsoft.com/office/drawing/2014/main" id="{27B9FFE7-C4AB-425B-9B56-E412C72212A0}"/>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59231052-EBA8-4781-B28A-2FEA8BE523F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CBDBF9E7-F686-4FA1-9BA5-69BDD014B0D3}"/>
              </a:ext>
            </a:extLst>
          </p:cNvPr>
          <p:cNvSpPr>
            <a:spLocks noGrp="1"/>
          </p:cNvSpPr>
          <p:nvPr>
            <p:ph type="title"/>
          </p:nvPr>
        </p:nvSpPr>
        <p:spPr>
          <a:xfrm>
            <a:off x="758952" y="758952"/>
            <a:ext cx="3831336" cy="2930179"/>
          </a:xfrm>
        </p:spPr>
        <p:txBody>
          <a:bodyPr/>
          <a:lstStyle/>
          <a:p>
            <a:r>
              <a:rPr lang="en-US"/>
              <a:t>Click to edit Master title style</a:t>
            </a:r>
            <a:endParaRPr lang="en-US" dirty="0"/>
          </a:p>
        </p:txBody>
      </p:sp>
    </p:spTree>
    <p:extLst>
      <p:ext uri="{BB962C8B-B14F-4D97-AF65-F5344CB8AC3E}">
        <p14:creationId xmlns:p14="http://schemas.microsoft.com/office/powerpoint/2010/main" val="1621332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16CF06-B27C-4DC4-981D-38E31997BD16}"/>
              </a:ext>
            </a:extLst>
          </p:cNvPr>
          <p:cNvSpPr>
            <a:spLocks noGrp="1"/>
          </p:cNvSpPr>
          <p:nvPr>
            <p:ph type="pic" idx="1"/>
          </p:nvPr>
        </p:nvSpPr>
        <p:spPr>
          <a:xfrm>
            <a:off x="5183188" y="758951"/>
            <a:ext cx="6245352" cy="4754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1976E66-2CB3-4F47-97F6-077C42818316}"/>
              </a:ext>
            </a:extLst>
          </p:cNvPr>
          <p:cNvSpPr>
            <a:spLocks noGrp="1"/>
          </p:cNvSpPr>
          <p:nvPr>
            <p:ph type="body" sz="half" idx="2"/>
          </p:nvPr>
        </p:nvSpPr>
        <p:spPr>
          <a:xfrm>
            <a:off x="758952" y="3794760"/>
            <a:ext cx="3831336" cy="171907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71414C9F-CBBD-4D5E-A831-BC0CDFEBCEF3}"/>
              </a:ext>
            </a:extLst>
          </p:cNvPr>
          <p:cNvSpPr>
            <a:spLocks noGrp="1"/>
          </p:cNvSpPr>
          <p:nvPr>
            <p:ph type="dt" sz="half" idx="10"/>
          </p:nvPr>
        </p:nvSpPr>
        <p:spPr/>
        <p:txBody>
          <a:bodyPr/>
          <a:lstStyle/>
          <a:p>
            <a:pPr algn="r"/>
            <a:fld id="{53BEF823-48A5-43FC-BE03-E79964288B41}" type="datetimeFigureOut">
              <a:rPr lang="en-US" smtClean="0"/>
              <a:pPr algn="r"/>
              <a:t>12/10/2025</a:t>
            </a:fld>
            <a:endParaRPr lang="en-US" dirty="0"/>
          </a:p>
        </p:txBody>
      </p:sp>
      <p:sp>
        <p:nvSpPr>
          <p:cNvPr id="10" name="Footer Placeholder 9">
            <a:extLst>
              <a:ext uri="{FF2B5EF4-FFF2-40B4-BE49-F238E27FC236}">
                <a16:creationId xmlns:a16="http://schemas.microsoft.com/office/drawing/2014/main" id="{F58DC0C8-B580-442D-8DAC-4F0F869B1F1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1B0D29E8-DFEE-49AB-83AF-85FF25252A3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D0EAAF1B-6B6E-4D37-8F57-E403C6371A00}"/>
              </a:ext>
            </a:extLst>
          </p:cNvPr>
          <p:cNvSpPr>
            <a:spLocks noGrp="1"/>
          </p:cNvSpPr>
          <p:nvPr>
            <p:ph type="title"/>
          </p:nvPr>
        </p:nvSpPr>
        <p:spPr>
          <a:xfrm>
            <a:off x="758952" y="758952"/>
            <a:ext cx="3831336" cy="2926080"/>
          </a:xfrm>
        </p:spPr>
        <p:txBody>
          <a:bodyPr/>
          <a:lstStyle/>
          <a:p>
            <a:r>
              <a:rPr lang="en-US"/>
              <a:t>Click to edit Master title style</a:t>
            </a:r>
            <a:endParaRPr lang="en-US" dirty="0"/>
          </a:p>
        </p:txBody>
      </p:sp>
    </p:spTree>
    <p:extLst>
      <p:ext uri="{BB962C8B-B14F-4D97-AF65-F5344CB8AC3E}">
        <p14:creationId xmlns:p14="http://schemas.microsoft.com/office/powerpoint/2010/main" val="2969602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9FCF-ACDF-495D-ACFA-15FCAC9EA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786E3-AB17-427E-8EF8-7FCB671A1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3B4E9-7A16-448C-8BE6-B14941A34857}"/>
              </a:ext>
            </a:extLst>
          </p:cNvPr>
          <p:cNvSpPr>
            <a:spLocks noGrp="1"/>
          </p:cNvSpPr>
          <p:nvPr>
            <p:ph type="dt" sz="half" idx="10"/>
          </p:nvPr>
        </p:nvSpPr>
        <p:spPr/>
        <p:txBody>
          <a:bodyPr/>
          <a:lstStyle/>
          <a:p>
            <a:pPr algn="r"/>
            <a:fld id="{53BEF823-48A5-43FC-BE03-E79964288B41}" type="datetimeFigureOut">
              <a:rPr lang="en-US" smtClean="0"/>
              <a:pPr algn="r"/>
              <a:t>12/10/2025</a:t>
            </a:fld>
            <a:endParaRPr lang="en-US" dirty="0"/>
          </a:p>
        </p:txBody>
      </p:sp>
      <p:sp>
        <p:nvSpPr>
          <p:cNvPr id="8" name="Footer Placeholder 7">
            <a:extLst>
              <a:ext uri="{FF2B5EF4-FFF2-40B4-BE49-F238E27FC236}">
                <a16:creationId xmlns:a16="http://schemas.microsoft.com/office/drawing/2014/main" id="{579212F5-5835-49FF-836F-5E3008A0EDB1}"/>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DE9D492B-E5EE-4D24-A087-57D739CFACE8}"/>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81319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1E395-94BD-4E79-8E42-9CD4EB33CA60}"/>
              </a:ext>
            </a:extLst>
          </p:cNvPr>
          <p:cNvSpPr>
            <a:spLocks noGrp="1"/>
          </p:cNvSpPr>
          <p:nvPr>
            <p:ph type="title" orient="vert"/>
          </p:nvPr>
        </p:nvSpPr>
        <p:spPr>
          <a:xfrm>
            <a:off x="8475542" y="758952"/>
            <a:ext cx="2954458" cy="4986002"/>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79AA8A4-66BC-4E80-ABE3-F533F82B88CA}"/>
              </a:ext>
            </a:extLst>
          </p:cNvPr>
          <p:cNvSpPr>
            <a:spLocks noGrp="1"/>
          </p:cNvSpPr>
          <p:nvPr>
            <p:ph type="body" orient="vert" idx="1"/>
          </p:nvPr>
        </p:nvSpPr>
        <p:spPr>
          <a:xfrm>
            <a:off x="758952" y="758952"/>
            <a:ext cx="7407586" cy="49860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DDA4EA6-6A1A-48ED-9D79-A438561C7E79}"/>
              </a:ext>
            </a:extLst>
          </p:cNvPr>
          <p:cNvSpPr>
            <a:spLocks noGrp="1"/>
          </p:cNvSpPr>
          <p:nvPr>
            <p:ph type="dt" sz="half" idx="10"/>
          </p:nvPr>
        </p:nvSpPr>
        <p:spPr/>
        <p:txBody>
          <a:bodyPr/>
          <a:lstStyle/>
          <a:p>
            <a:pPr algn="r"/>
            <a:fld id="{53BEF823-48A5-43FC-BE03-E79964288B41}" type="datetimeFigureOut">
              <a:rPr lang="en-US" smtClean="0"/>
              <a:pPr algn="r"/>
              <a:t>12/10/2025</a:t>
            </a:fld>
            <a:endParaRPr lang="en-US" dirty="0"/>
          </a:p>
        </p:txBody>
      </p:sp>
      <p:sp>
        <p:nvSpPr>
          <p:cNvPr id="8" name="Footer Placeholder 7">
            <a:extLst>
              <a:ext uri="{FF2B5EF4-FFF2-40B4-BE49-F238E27FC236}">
                <a16:creationId xmlns:a16="http://schemas.microsoft.com/office/drawing/2014/main" id="{F049B2BA-9250-4EBF-8820-10BDA5C1C62B}"/>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1F914475-55F3-4C46-BAE2-E4D93E9E378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4055015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6" title="Page Number Shape">
            <a:extLst>
              <a:ext uri="{FF2B5EF4-FFF2-40B4-BE49-F238E27FC236}">
                <a16:creationId xmlns:a16="http://schemas.microsoft.com/office/drawing/2014/main" id="{72411438-92A5-42B0-9C54-EA4FB32ACB5E}"/>
              </a:ext>
            </a:extLst>
          </p:cNvPr>
          <p:cNvSpPr/>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p:nvSpPr>
          <p:cNvPr id="2" name="Title Placeholder 1">
            <a:extLst>
              <a:ext uri="{FF2B5EF4-FFF2-40B4-BE49-F238E27FC236}">
                <a16:creationId xmlns:a16="http://schemas.microsoft.com/office/drawing/2014/main" id="{0D56E4D8-47B6-4DEC-BD29-B3B6ED4CC739}"/>
              </a:ext>
            </a:extLst>
          </p:cNvPr>
          <p:cNvSpPr>
            <a:spLocks noGrp="1"/>
          </p:cNvSpPr>
          <p:nvPr>
            <p:ph type="title"/>
          </p:nvPr>
        </p:nvSpPr>
        <p:spPr>
          <a:xfrm>
            <a:off x="758952" y="758952"/>
            <a:ext cx="3831336" cy="47548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F0F5D4C-4873-4052-A294-99CCB9421C4A}"/>
              </a:ext>
            </a:extLst>
          </p:cNvPr>
          <p:cNvSpPr>
            <a:spLocks noGrp="1"/>
          </p:cNvSpPr>
          <p:nvPr>
            <p:ph type="body" idx="1"/>
          </p:nvPr>
        </p:nvSpPr>
        <p:spPr>
          <a:xfrm>
            <a:off x="5184648" y="758952"/>
            <a:ext cx="6245352" cy="47548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1D62B3-3490-46B4-A10E-33FCE4A1FBB5}"/>
              </a:ext>
            </a:extLst>
          </p:cNvPr>
          <p:cNvSpPr>
            <a:spLocks noGrp="1"/>
          </p:cNvSpPr>
          <p:nvPr>
            <p:ph type="dt" sz="half" idx="2"/>
          </p:nvPr>
        </p:nvSpPr>
        <p:spPr>
          <a:xfrm>
            <a:off x="7616952" y="6007608"/>
            <a:ext cx="3813048" cy="365125"/>
          </a:xfrm>
          <a:prstGeom prst="rect">
            <a:avLst/>
          </a:prstGeom>
        </p:spPr>
        <p:txBody>
          <a:bodyPr vert="horz" lIns="91440" tIns="45720" rIns="91440" bIns="45720" rtlCol="0" anchor="ctr"/>
          <a:lstStyle>
            <a:lvl1pPr algn="r">
              <a:defRPr sz="1000" spc="50" baseline="0">
                <a:solidFill>
                  <a:schemeClr val="tx1">
                    <a:lumMod val="85000"/>
                    <a:lumOff val="15000"/>
                  </a:schemeClr>
                </a:solidFill>
              </a:defRPr>
            </a:lvl1pPr>
          </a:lstStyle>
          <a:p>
            <a:pPr algn="r"/>
            <a:fld id="{53BEF823-48A5-43FC-BE03-E79964288B41}" type="datetimeFigureOut">
              <a:rPr lang="en-US" smtClean="0"/>
              <a:pPr algn="r"/>
              <a:t>12/10/2025</a:t>
            </a:fld>
            <a:endParaRPr lang="en-US" dirty="0"/>
          </a:p>
        </p:txBody>
      </p:sp>
      <p:sp>
        <p:nvSpPr>
          <p:cNvPr id="5" name="Footer Placeholder 4">
            <a:extLst>
              <a:ext uri="{FF2B5EF4-FFF2-40B4-BE49-F238E27FC236}">
                <a16:creationId xmlns:a16="http://schemas.microsoft.com/office/drawing/2014/main" id="{97424CB1-7D5F-4F52-9F99-7068F5819E8C}"/>
              </a:ext>
            </a:extLst>
          </p:cNvPr>
          <p:cNvSpPr>
            <a:spLocks noGrp="1"/>
          </p:cNvSpPr>
          <p:nvPr>
            <p:ph type="ftr" sz="quarter" idx="3"/>
          </p:nvPr>
        </p:nvSpPr>
        <p:spPr>
          <a:xfrm>
            <a:off x="758952" y="6007608"/>
            <a:ext cx="3831336" cy="365125"/>
          </a:xfrm>
          <a:prstGeom prst="rect">
            <a:avLst/>
          </a:prstGeom>
        </p:spPr>
        <p:txBody>
          <a:bodyPr vert="horz" lIns="91440" tIns="45720" rIns="91440" bIns="45720" rtlCol="0" anchor="ctr"/>
          <a:lstStyle>
            <a:lvl1pPr algn="l">
              <a:defRPr sz="1000" spc="50" baseline="0">
                <a:solidFill>
                  <a:schemeClr val="tx1">
                    <a:lumMod val="85000"/>
                    <a:lumOff val="15000"/>
                  </a:schemeClr>
                </a:solidFill>
              </a:defRPr>
            </a:lvl1pPr>
          </a:lstStyle>
          <a:p>
            <a:pPr algn="l"/>
            <a:endParaRPr lang="en-US" dirty="0"/>
          </a:p>
        </p:txBody>
      </p:sp>
      <p:sp>
        <p:nvSpPr>
          <p:cNvPr id="6" name="Slide Number Placeholder 5">
            <a:extLst>
              <a:ext uri="{FF2B5EF4-FFF2-40B4-BE49-F238E27FC236}">
                <a16:creationId xmlns:a16="http://schemas.microsoft.com/office/drawing/2014/main" id="{1A1F9CC9-1431-4569-B2F1-D04814955381}"/>
              </a:ext>
            </a:extLst>
          </p:cNvPr>
          <p:cNvSpPr>
            <a:spLocks noGrp="1"/>
          </p:cNvSpPr>
          <p:nvPr>
            <p:ph type="sldNum" sz="quarter" idx="4"/>
          </p:nvPr>
        </p:nvSpPr>
        <p:spPr>
          <a:xfrm>
            <a:off x="11786616" y="6007608"/>
            <a:ext cx="411480" cy="365125"/>
          </a:xfrm>
          <a:prstGeom prst="rect">
            <a:avLst/>
          </a:prstGeom>
        </p:spPr>
        <p:txBody>
          <a:bodyPr vert="horz" lIns="45720" tIns="45720" rIns="45720" bIns="45720" rtlCol="0" anchor="ctr"/>
          <a:lstStyle>
            <a:lvl1pPr algn="r">
              <a:defRPr sz="900" b="1">
                <a:solidFill>
                  <a:schemeClr val="bg1"/>
                </a:solidFill>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39537944"/>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8" r:id="rId6"/>
    <p:sldLayoutId id="2147483773" r:id="rId7"/>
    <p:sldLayoutId id="2147483774" r:id="rId8"/>
    <p:sldLayoutId id="2147483775" r:id="rId9"/>
    <p:sldLayoutId id="2147483777" r:id="rId10"/>
    <p:sldLayoutId id="2147483776" r:id="rId11"/>
  </p:sldLayoutIdLst>
  <p:txStyles>
    <p:title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p:titleStyle>
    <p:body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D05924-FB51-DA83-4E42-EF179C3E0990}"/>
              </a:ext>
            </a:extLst>
          </p:cNvPr>
          <p:cNvSpPr>
            <a:spLocks noGrp="1"/>
          </p:cNvSpPr>
          <p:nvPr>
            <p:ph type="ctrTitle"/>
          </p:nvPr>
        </p:nvSpPr>
        <p:spPr>
          <a:xfrm>
            <a:off x="1078991" y="893935"/>
            <a:ext cx="5364937" cy="3339390"/>
          </a:xfrm>
        </p:spPr>
        <p:txBody>
          <a:bodyPr anchor="ctr">
            <a:normAutofit/>
          </a:bodyPr>
          <a:lstStyle/>
          <a:p>
            <a:r>
              <a:rPr lang="en-US" sz="6000" dirty="0"/>
              <a:t>Bacchus Winery Case Study</a:t>
            </a:r>
          </a:p>
        </p:txBody>
      </p:sp>
      <p:sp>
        <p:nvSpPr>
          <p:cNvPr id="3" name="Subtitle 2">
            <a:extLst>
              <a:ext uri="{FF2B5EF4-FFF2-40B4-BE49-F238E27FC236}">
                <a16:creationId xmlns:a16="http://schemas.microsoft.com/office/drawing/2014/main" id="{5BC571FC-C4CF-A9B9-6D7A-AE4BCCA2773A}"/>
              </a:ext>
            </a:extLst>
          </p:cNvPr>
          <p:cNvSpPr>
            <a:spLocks noGrp="1"/>
          </p:cNvSpPr>
          <p:nvPr>
            <p:ph type="subTitle" idx="1"/>
          </p:nvPr>
        </p:nvSpPr>
        <p:spPr>
          <a:xfrm>
            <a:off x="1140407" y="3526430"/>
            <a:ext cx="5364936" cy="909848"/>
          </a:xfrm>
        </p:spPr>
        <p:txBody>
          <a:bodyPr anchor="t">
            <a:normAutofit/>
          </a:bodyPr>
          <a:lstStyle/>
          <a:p>
            <a:r>
              <a:rPr lang="en-US" dirty="0"/>
              <a:t>CSD310 – Database Development &amp; Use</a:t>
            </a:r>
          </a:p>
          <a:p>
            <a:r>
              <a:rPr lang="en-US" dirty="0"/>
              <a:t>Professor Susan Sampson</a:t>
            </a:r>
          </a:p>
        </p:txBody>
      </p:sp>
      <p:cxnSp>
        <p:nvCxnSpPr>
          <p:cNvPr id="34" name="Straight Connector 33">
            <a:extLst>
              <a:ext uri="{FF2B5EF4-FFF2-40B4-BE49-F238E27FC236}">
                <a16:creationId xmlns:a16="http://schemas.microsoft.com/office/drawing/2014/main" id="{E3B95BE3-D5B2-4F38-9A01-17866C9FBA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40408" y="4555071"/>
            <a:ext cx="53035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bstract design of flower petals in pastel">
            <a:extLst>
              <a:ext uri="{FF2B5EF4-FFF2-40B4-BE49-F238E27FC236}">
                <a16:creationId xmlns:a16="http://schemas.microsoft.com/office/drawing/2014/main" id="{03F2FB7D-2540-A845-156B-66FD81531957}"/>
              </a:ext>
            </a:extLst>
          </p:cNvPr>
          <p:cNvPicPr>
            <a:picLocks noChangeAspect="1"/>
          </p:cNvPicPr>
          <p:nvPr/>
        </p:nvPicPr>
        <p:blipFill>
          <a:blip r:embed="rId2"/>
          <a:srcRect l="20550" r="29642" b="2"/>
          <a:stretch>
            <a:fillRect/>
          </a:stretch>
        </p:blipFill>
        <p:spPr>
          <a:xfrm>
            <a:off x="6976934" y="10"/>
            <a:ext cx="5215066" cy="6857990"/>
          </a:xfrm>
          <a:custGeom>
            <a:avLst/>
            <a:gdLst/>
            <a:ahLst/>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p:spPr>
      </p:pic>
      <p:sp>
        <p:nvSpPr>
          <p:cNvPr id="36" name="Freeform 6">
            <a:extLst>
              <a:ext uri="{FF2B5EF4-FFF2-40B4-BE49-F238E27FC236}">
                <a16:creationId xmlns:a16="http://schemas.microsoft.com/office/drawing/2014/main" id="{ADA271CD-3011-4A05-B4A3-80F179468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p:nvSpPr>
          <p:cNvPr id="5" name="Subtitle 2">
            <a:extLst>
              <a:ext uri="{FF2B5EF4-FFF2-40B4-BE49-F238E27FC236}">
                <a16:creationId xmlns:a16="http://schemas.microsoft.com/office/drawing/2014/main" id="{A2A4EC72-A1F9-65D7-3B79-0A7395723C56}"/>
              </a:ext>
            </a:extLst>
          </p:cNvPr>
          <p:cNvSpPr txBox="1">
            <a:spLocks/>
          </p:cNvSpPr>
          <p:nvPr/>
        </p:nvSpPr>
        <p:spPr>
          <a:xfrm>
            <a:off x="4519829" y="5845538"/>
            <a:ext cx="3520586" cy="969264"/>
          </a:xfrm>
          <a:prstGeom prst="rect">
            <a:avLst/>
          </a:prstGeom>
        </p:spPr>
        <p:txBody>
          <a:bodyPr vert="horz" lIns="91440" tIns="45720" rIns="91440" bIns="45720" rtlCol="0" anchor="t">
            <a:normAutofit/>
          </a:bodyPr>
          <a:lstStyle>
            <a:lvl1pPr marL="0" indent="0" algn="l" defTabSz="914400" rtl="0" eaLnBrk="1" latinLnBrk="0" hangingPunct="1">
              <a:lnSpc>
                <a:spcPct val="130000"/>
              </a:lnSpc>
              <a:spcBef>
                <a:spcPts val="1000"/>
              </a:spcBef>
              <a:buSzPct val="87000"/>
              <a:buFont typeface="Arial" panose="020B0604020202020204" pitchFamily="34" charset="0"/>
              <a:buNone/>
              <a:defRPr sz="1800" b="1" kern="1200" cap="all" spc="300" baseline="0">
                <a:solidFill>
                  <a:schemeClr val="tx1"/>
                </a:solidFill>
                <a:latin typeface="+mn-lt"/>
                <a:ea typeface="+mn-ea"/>
                <a:cs typeface="+mn-cs"/>
              </a:defRPr>
            </a:lvl1pPr>
            <a:lvl2pPr marL="457200" indent="0" algn="ctr" defTabSz="914400" rtl="0" eaLnBrk="1" latinLnBrk="0" hangingPunct="1">
              <a:lnSpc>
                <a:spcPct val="120000"/>
              </a:lnSpc>
              <a:spcBef>
                <a:spcPts val="500"/>
              </a:spcBef>
              <a:buSzPct val="87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87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000" dirty="0">
              <a:solidFill>
                <a:srgbClr val="FFFFFF"/>
              </a:solidFill>
            </a:endParaRPr>
          </a:p>
        </p:txBody>
      </p:sp>
      <p:sp>
        <p:nvSpPr>
          <p:cNvPr id="7" name="TextBox 6">
            <a:extLst>
              <a:ext uri="{FF2B5EF4-FFF2-40B4-BE49-F238E27FC236}">
                <a16:creationId xmlns:a16="http://schemas.microsoft.com/office/drawing/2014/main" id="{8D6D9C14-3AC2-7FC4-B66D-DF87A3CE92C3}"/>
              </a:ext>
            </a:extLst>
          </p:cNvPr>
          <p:cNvSpPr txBox="1"/>
          <p:nvPr/>
        </p:nvSpPr>
        <p:spPr>
          <a:xfrm>
            <a:off x="1140407" y="5116808"/>
            <a:ext cx="2374843" cy="923330"/>
          </a:xfrm>
          <a:prstGeom prst="rect">
            <a:avLst/>
          </a:prstGeom>
          <a:noFill/>
        </p:spPr>
        <p:txBody>
          <a:bodyPr wrap="square">
            <a:spAutoFit/>
          </a:bodyPr>
          <a:lstStyle/>
          <a:p>
            <a:r>
              <a:rPr lang="en-US" sz="1800" dirty="0">
                <a:solidFill>
                  <a:srgbClr val="FFFFFF"/>
                </a:solidFill>
              </a:rPr>
              <a:t>Robert Breutzmann</a:t>
            </a:r>
          </a:p>
          <a:p>
            <a:r>
              <a:rPr lang="en-US" sz="1800" dirty="0">
                <a:solidFill>
                  <a:srgbClr val="FFFFFF"/>
                </a:solidFill>
              </a:rPr>
              <a:t>Carolina Rodriguez</a:t>
            </a:r>
          </a:p>
          <a:p>
            <a:r>
              <a:rPr lang="en-US" sz="1800" dirty="0">
                <a:solidFill>
                  <a:srgbClr val="FFFFFF"/>
                </a:solidFill>
              </a:rPr>
              <a:t>Sara White</a:t>
            </a:r>
          </a:p>
        </p:txBody>
      </p:sp>
      <p:sp>
        <p:nvSpPr>
          <p:cNvPr id="8" name="TextBox 7">
            <a:extLst>
              <a:ext uri="{FF2B5EF4-FFF2-40B4-BE49-F238E27FC236}">
                <a16:creationId xmlns:a16="http://schemas.microsoft.com/office/drawing/2014/main" id="{3686635D-644E-F4EE-2977-C86507845B99}"/>
              </a:ext>
            </a:extLst>
          </p:cNvPr>
          <p:cNvSpPr txBox="1"/>
          <p:nvPr/>
        </p:nvSpPr>
        <p:spPr>
          <a:xfrm>
            <a:off x="1140408" y="4665595"/>
            <a:ext cx="3535045" cy="461665"/>
          </a:xfrm>
          <a:prstGeom prst="rect">
            <a:avLst/>
          </a:prstGeom>
          <a:noFill/>
        </p:spPr>
        <p:txBody>
          <a:bodyPr wrap="square" rtlCol="0">
            <a:spAutoFit/>
          </a:bodyPr>
          <a:lstStyle/>
          <a:p>
            <a:r>
              <a:rPr lang="en-US" sz="2400" dirty="0">
                <a:solidFill>
                  <a:schemeClr val="accent1">
                    <a:lumMod val="60000"/>
                    <a:lumOff val="40000"/>
                  </a:schemeClr>
                </a:solidFill>
              </a:rPr>
              <a:t>BLUE TEAM:</a:t>
            </a:r>
          </a:p>
        </p:txBody>
      </p:sp>
    </p:spTree>
    <p:extLst>
      <p:ext uri="{BB962C8B-B14F-4D97-AF65-F5344CB8AC3E}">
        <p14:creationId xmlns:p14="http://schemas.microsoft.com/office/powerpoint/2010/main" val="2811373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A65A4D-39F3-F73E-4FA4-78098103EAA1}"/>
              </a:ext>
            </a:extLst>
          </p:cNvPr>
          <p:cNvSpPr>
            <a:spLocks noGrp="1"/>
          </p:cNvSpPr>
          <p:nvPr>
            <p:ph type="title"/>
          </p:nvPr>
        </p:nvSpPr>
        <p:spPr>
          <a:xfrm>
            <a:off x="758952" y="379475"/>
            <a:ext cx="10671048" cy="1554480"/>
          </a:xfrm>
        </p:spPr>
        <p:txBody>
          <a:bodyPr vert="horz" lIns="91440" tIns="45720" rIns="91440" bIns="45720" rtlCol="0" anchor="ctr">
            <a:normAutofit/>
          </a:bodyPr>
          <a:lstStyle/>
          <a:p>
            <a:r>
              <a:rPr lang="en-US" dirty="0">
                <a:solidFill>
                  <a:schemeClr val="bg1"/>
                </a:solidFill>
              </a:rPr>
              <a:t>Group Introduction</a:t>
            </a:r>
          </a:p>
        </p:txBody>
      </p:sp>
      <p:sp>
        <p:nvSpPr>
          <p:cNvPr id="3" name="Content Placeholder 2">
            <a:extLst>
              <a:ext uri="{FF2B5EF4-FFF2-40B4-BE49-F238E27FC236}">
                <a16:creationId xmlns:a16="http://schemas.microsoft.com/office/drawing/2014/main" id="{B2836406-71A0-907A-D000-4133FEC9A9CB}"/>
              </a:ext>
            </a:extLst>
          </p:cNvPr>
          <p:cNvSpPr>
            <a:spLocks noGrp="1"/>
          </p:cNvSpPr>
          <p:nvPr>
            <p:ph idx="1"/>
          </p:nvPr>
        </p:nvSpPr>
        <p:spPr>
          <a:xfrm>
            <a:off x="758824" y="2607732"/>
            <a:ext cx="7618694" cy="3437468"/>
          </a:xfrm>
        </p:spPr>
        <p:txBody>
          <a:bodyPr vert="horz" lIns="91440" tIns="45720" rIns="91440" bIns="45720" rtlCol="0">
            <a:normAutofit fontScale="85000" lnSpcReduction="10000"/>
          </a:bodyPr>
          <a:lstStyle/>
          <a:p>
            <a:pPr marL="0" indent="0">
              <a:buNone/>
            </a:pPr>
            <a:r>
              <a:rPr lang="en-US" dirty="0"/>
              <a:t>We are part of Team Blue and for our case study we decided to choose the Bacchus Winery Case. Our team members are Robert, Sara and Carolina.</a:t>
            </a:r>
          </a:p>
          <a:p>
            <a:pPr marL="0" indent="0">
              <a:buNone/>
            </a:pPr>
            <a:r>
              <a:rPr lang="en-US" dirty="0"/>
              <a:t>Robert contributed the business rules, the initial ERD, and prepared a report for how many hours each employee worked during the last quarter.</a:t>
            </a:r>
          </a:p>
          <a:p>
            <a:pPr marL="0" indent="0">
              <a:buNone/>
            </a:pPr>
            <a:r>
              <a:rPr lang="en-US" dirty="0"/>
              <a:t>Sara contributed updates to the initial ERD and database, while preparing a report on supplies delivery time and any gap between expected delivery. </a:t>
            </a:r>
          </a:p>
          <a:p>
            <a:pPr marL="0" indent="0">
              <a:buNone/>
            </a:pPr>
            <a:r>
              <a:rPr lang="en-US" dirty="0"/>
              <a:t> Carolina contributed updates to the business rules and initial ERD and prepared a report on which distributor orders which wine, which wine sold, and which didn’t. </a:t>
            </a:r>
          </a:p>
          <a:p>
            <a:pPr marL="0" indent="0">
              <a:buNone/>
            </a:pPr>
            <a:r>
              <a:rPr lang="en-US" dirty="0"/>
              <a:t>Together we prepared this presentation and took note on the assumptions we made during this project.</a:t>
            </a:r>
          </a:p>
          <a:p>
            <a:pPr marL="0" indent="0">
              <a:buNone/>
            </a:pPr>
            <a:endParaRPr lang="en-US" dirty="0"/>
          </a:p>
        </p:txBody>
      </p:sp>
      <p:sp>
        <p:nvSpPr>
          <p:cNvPr id="25"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pic>
        <p:nvPicPr>
          <p:cNvPr id="4" name="Graphic 3" descr="Users with solid fill">
            <a:extLst>
              <a:ext uri="{FF2B5EF4-FFF2-40B4-BE49-F238E27FC236}">
                <a16:creationId xmlns:a16="http://schemas.microsoft.com/office/drawing/2014/main" id="{572D8266-3849-5F66-9DAB-EAD5777BF52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8599561" y="2509712"/>
            <a:ext cx="3370396" cy="3370396"/>
          </a:xfrm>
          <a:prstGeom prst="rect">
            <a:avLst/>
          </a:prstGeom>
        </p:spPr>
      </p:pic>
    </p:spTree>
    <p:extLst>
      <p:ext uri="{BB962C8B-B14F-4D97-AF65-F5344CB8AC3E}">
        <p14:creationId xmlns:p14="http://schemas.microsoft.com/office/powerpoint/2010/main" val="2845602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8AB02BA-3FCA-F2BF-E99E-2E096790AC1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C3586B-3AD9-183E-D682-D363373C8BB9}"/>
              </a:ext>
            </a:extLst>
          </p:cNvPr>
          <p:cNvSpPr>
            <a:spLocks noGrp="1"/>
          </p:cNvSpPr>
          <p:nvPr>
            <p:ph type="title"/>
          </p:nvPr>
        </p:nvSpPr>
        <p:spPr>
          <a:xfrm>
            <a:off x="758952" y="379475"/>
            <a:ext cx="10671048" cy="1731713"/>
          </a:xfrm>
        </p:spPr>
        <p:txBody>
          <a:bodyPr vert="horz" lIns="91440" tIns="45720" rIns="91440" bIns="45720" rtlCol="0" anchor="ctr">
            <a:noAutofit/>
          </a:bodyPr>
          <a:lstStyle/>
          <a:p>
            <a:r>
              <a:rPr lang="en-US" dirty="0">
                <a:solidFill>
                  <a:schemeClr val="bg1"/>
                </a:solidFill>
              </a:rPr>
              <a:t>Case Study Overview</a:t>
            </a:r>
          </a:p>
        </p:txBody>
      </p:sp>
      <p:sp>
        <p:nvSpPr>
          <p:cNvPr id="3" name="Content Placeholder 2">
            <a:extLst>
              <a:ext uri="{FF2B5EF4-FFF2-40B4-BE49-F238E27FC236}">
                <a16:creationId xmlns:a16="http://schemas.microsoft.com/office/drawing/2014/main" id="{D640CCE3-D4E2-713A-C6DB-8CFB4588A99F}"/>
              </a:ext>
            </a:extLst>
          </p:cNvPr>
          <p:cNvSpPr>
            <a:spLocks noGrp="1"/>
          </p:cNvSpPr>
          <p:nvPr>
            <p:ph idx="1"/>
          </p:nvPr>
        </p:nvSpPr>
        <p:spPr>
          <a:xfrm>
            <a:off x="758824" y="2607732"/>
            <a:ext cx="8033636" cy="3300051"/>
          </a:xfrm>
        </p:spPr>
        <p:txBody>
          <a:bodyPr vert="horz" lIns="91440" tIns="45720" rIns="91440" bIns="45720" rtlCol="0">
            <a:normAutofit/>
          </a:bodyPr>
          <a:lstStyle/>
          <a:p>
            <a:r>
              <a:rPr lang="en-US" dirty="0"/>
              <a:t>The case study involves helping Bacchus Winery with their operations team by creating a database system to track suppliers, wine production, inventory, distribution and employee hours. The owners need accurate reports on supply deliveries, wine sales and employee work time to make sure their winery is running according to budget. </a:t>
            </a:r>
          </a:p>
          <a:p>
            <a:r>
              <a:rPr lang="en-US" dirty="0"/>
              <a:t>Our objective was to design a database structure, create exact reports and ensure data is clear for new decisions. </a:t>
            </a:r>
          </a:p>
          <a:p>
            <a:pPr marL="0" indent="0">
              <a:buNone/>
            </a:pPr>
            <a:endParaRPr lang="en-US" dirty="0"/>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pic>
        <p:nvPicPr>
          <p:cNvPr id="4" name="Graphic 3" descr="Closed book with solid fill">
            <a:extLst>
              <a:ext uri="{FF2B5EF4-FFF2-40B4-BE49-F238E27FC236}">
                <a16:creationId xmlns:a16="http://schemas.microsoft.com/office/drawing/2014/main" id="{DDD715AF-3E1D-5426-8458-E5F837FC6F56}"/>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8792460" y="2411693"/>
            <a:ext cx="3370396" cy="3370396"/>
          </a:xfrm>
          <a:prstGeom prst="rect">
            <a:avLst/>
          </a:prstGeom>
        </p:spPr>
      </p:pic>
    </p:spTree>
    <p:extLst>
      <p:ext uri="{BB962C8B-B14F-4D97-AF65-F5344CB8AC3E}">
        <p14:creationId xmlns:p14="http://schemas.microsoft.com/office/powerpoint/2010/main" val="2211566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1113FF5-9B84-4A89-BF52-EA3C7E01A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95596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5B50BB-96FB-4CE0-E486-EDCD61427F65}"/>
              </a:ext>
            </a:extLst>
          </p:cNvPr>
          <p:cNvSpPr>
            <a:spLocks noGrp="1"/>
          </p:cNvSpPr>
          <p:nvPr>
            <p:ph type="title"/>
          </p:nvPr>
        </p:nvSpPr>
        <p:spPr>
          <a:xfrm>
            <a:off x="758952" y="420625"/>
            <a:ext cx="10667998" cy="1326814"/>
          </a:xfrm>
        </p:spPr>
        <p:txBody>
          <a:bodyPr anchor="ctr">
            <a:normAutofit/>
          </a:bodyPr>
          <a:lstStyle/>
          <a:p>
            <a:r>
              <a:rPr lang="en-US">
                <a:solidFill>
                  <a:schemeClr val="bg1"/>
                </a:solidFill>
              </a:rPr>
              <a:t>Key Database Requirements</a:t>
            </a:r>
          </a:p>
        </p:txBody>
      </p:sp>
      <p:sp>
        <p:nvSpPr>
          <p:cNvPr id="3" name="Content Placeholder 2">
            <a:extLst>
              <a:ext uri="{FF2B5EF4-FFF2-40B4-BE49-F238E27FC236}">
                <a16:creationId xmlns:a16="http://schemas.microsoft.com/office/drawing/2014/main" id="{0951E944-941C-0DCA-8D64-B5CF97866493}"/>
              </a:ext>
            </a:extLst>
          </p:cNvPr>
          <p:cNvSpPr>
            <a:spLocks noGrp="1"/>
          </p:cNvSpPr>
          <p:nvPr>
            <p:ph idx="1"/>
          </p:nvPr>
        </p:nvSpPr>
        <p:spPr>
          <a:xfrm>
            <a:off x="758951" y="2413169"/>
            <a:ext cx="7654661" cy="4024206"/>
          </a:xfrm>
        </p:spPr>
        <p:txBody>
          <a:bodyPr anchor="ctr">
            <a:normAutofit/>
          </a:bodyPr>
          <a:lstStyle/>
          <a:p>
            <a:r>
              <a:rPr lang="en-US" dirty="0"/>
              <a:t>List Business Rules Identified that the database needs to solve.</a:t>
            </a:r>
          </a:p>
        </p:txBody>
      </p:sp>
      <p:pic>
        <p:nvPicPr>
          <p:cNvPr id="7" name="Graphic 6" descr="Database">
            <a:extLst>
              <a:ext uri="{FF2B5EF4-FFF2-40B4-BE49-F238E27FC236}">
                <a16:creationId xmlns:a16="http://schemas.microsoft.com/office/drawing/2014/main" id="{D3A55EB0-0F11-BFA5-FE35-9440F3D3AD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13614" y="2413169"/>
            <a:ext cx="3370396" cy="3370396"/>
          </a:xfrm>
          <a:prstGeom prst="rect">
            <a:avLst/>
          </a:prstGeom>
        </p:spPr>
      </p:pic>
      <p:sp>
        <p:nvSpPr>
          <p:cNvPr id="14"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819651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E803F3-3D08-381B-36A6-7F621931628B}"/>
              </a:ext>
            </a:extLst>
          </p:cNvPr>
          <p:cNvSpPr>
            <a:spLocks noGrp="1"/>
          </p:cNvSpPr>
          <p:nvPr>
            <p:ph type="title"/>
          </p:nvPr>
        </p:nvSpPr>
        <p:spPr>
          <a:xfrm>
            <a:off x="758952" y="379475"/>
            <a:ext cx="10671048" cy="1554480"/>
          </a:xfrm>
        </p:spPr>
        <p:txBody>
          <a:bodyPr anchor="ctr">
            <a:normAutofit/>
          </a:bodyPr>
          <a:lstStyle/>
          <a:p>
            <a:r>
              <a:rPr lang="en-US">
                <a:solidFill>
                  <a:schemeClr val="bg1"/>
                </a:solidFill>
              </a:rPr>
              <a:t>Finalized ERD</a:t>
            </a:r>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pic>
        <p:nvPicPr>
          <p:cNvPr id="4" name="Content Placeholder 3" descr="A diagram of a diagram&#10;&#10;AI-generated content may be incorrect.">
            <a:extLst>
              <a:ext uri="{FF2B5EF4-FFF2-40B4-BE49-F238E27FC236}">
                <a16:creationId xmlns:a16="http://schemas.microsoft.com/office/drawing/2014/main" id="{BDB7EDC1-F2A8-9222-EF5F-DCEB7313FBA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33043" y="1624405"/>
            <a:ext cx="11813113" cy="485411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1855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1113FF5-9B84-4A89-BF52-EA3C7E01A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95596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96C6E1-8709-4A6F-9A09-49871B5E9388}"/>
              </a:ext>
            </a:extLst>
          </p:cNvPr>
          <p:cNvSpPr>
            <a:spLocks noGrp="1"/>
          </p:cNvSpPr>
          <p:nvPr>
            <p:ph type="title"/>
          </p:nvPr>
        </p:nvSpPr>
        <p:spPr>
          <a:xfrm>
            <a:off x="758952" y="420625"/>
            <a:ext cx="10667998" cy="1326814"/>
          </a:xfrm>
        </p:spPr>
        <p:txBody>
          <a:bodyPr anchor="ctr">
            <a:normAutofit/>
          </a:bodyPr>
          <a:lstStyle/>
          <a:p>
            <a:r>
              <a:rPr lang="en-US">
                <a:solidFill>
                  <a:schemeClr val="bg1"/>
                </a:solidFill>
              </a:rPr>
              <a:t>Reports selected for generation</a:t>
            </a:r>
          </a:p>
        </p:txBody>
      </p:sp>
      <p:sp>
        <p:nvSpPr>
          <p:cNvPr id="13"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2" y="56841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bg1"/>
          </a:solidFill>
          <a:ln w="0">
            <a:noFill/>
            <a:prstDash val="solid"/>
            <a:round/>
            <a:headEnd/>
            <a:tailEnd/>
          </a:ln>
        </p:spPr>
        <p:txBody>
          <a:bodyPr anchor="ctr"/>
          <a:lstStyle/>
          <a:p>
            <a:endParaRPr lang="en-US"/>
          </a:p>
        </p:txBody>
      </p:sp>
      <p:graphicFrame>
        <p:nvGraphicFramePr>
          <p:cNvPr id="5" name="Content Placeholder 2">
            <a:extLst>
              <a:ext uri="{FF2B5EF4-FFF2-40B4-BE49-F238E27FC236}">
                <a16:creationId xmlns:a16="http://schemas.microsoft.com/office/drawing/2014/main" id="{900471DD-2729-7B19-9AC3-AFAB647CD620}"/>
              </a:ext>
            </a:extLst>
          </p:cNvPr>
          <p:cNvGraphicFramePr>
            <a:graphicFrameLocks noGrp="1"/>
          </p:cNvGraphicFramePr>
          <p:nvPr>
            <p:ph idx="1"/>
            <p:extLst>
              <p:ext uri="{D42A27DB-BD31-4B8C-83A1-F6EECF244321}">
                <p14:modId xmlns:p14="http://schemas.microsoft.com/office/powerpoint/2010/main" val="3260488845"/>
              </p:ext>
            </p:extLst>
          </p:nvPr>
        </p:nvGraphicFramePr>
        <p:xfrm>
          <a:off x="758953" y="2606722"/>
          <a:ext cx="10671048" cy="31768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8206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C5C3CB-3C64-6AC6-CB4C-70EA66F8D59F}"/>
              </a:ext>
            </a:extLst>
          </p:cNvPr>
          <p:cNvSpPr>
            <a:spLocks noGrp="1"/>
          </p:cNvSpPr>
          <p:nvPr>
            <p:ph type="title"/>
          </p:nvPr>
        </p:nvSpPr>
        <p:spPr>
          <a:xfrm>
            <a:off x="758952" y="379475"/>
            <a:ext cx="10671048" cy="1554480"/>
          </a:xfrm>
        </p:spPr>
        <p:txBody>
          <a:bodyPr anchor="ctr">
            <a:normAutofit/>
          </a:bodyPr>
          <a:lstStyle/>
          <a:p>
            <a:r>
              <a:rPr lang="en-US" sz="5100">
                <a:solidFill>
                  <a:schemeClr val="bg1"/>
                </a:solidFill>
              </a:rPr>
              <a:t>Report 1: Expected vs Actual Supply Delivery</a:t>
            </a:r>
          </a:p>
        </p:txBody>
      </p:sp>
      <p:sp>
        <p:nvSpPr>
          <p:cNvPr id="3" name="Content Placeholder 2">
            <a:extLst>
              <a:ext uri="{FF2B5EF4-FFF2-40B4-BE49-F238E27FC236}">
                <a16:creationId xmlns:a16="http://schemas.microsoft.com/office/drawing/2014/main" id="{C3F1E463-6AAB-5E9A-8D22-6FDCEA01B731}"/>
              </a:ext>
            </a:extLst>
          </p:cNvPr>
          <p:cNvSpPr>
            <a:spLocks noGrp="1"/>
          </p:cNvSpPr>
          <p:nvPr>
            <p:ph idx="1"/>
          </p:nvPr>
        </p:nvSpPr>
        <p:spPr>
          <a:xfrm>
            <a:off x="758824" y="2607732"/>
            <a:ext cx="5494058" cy="3174357"/>
          </a:xfrm>
        </p:spPr>
        <p:txBody>
          <a:bodyPr>
            <a:normAutofit/>
          </a:bodyPr>
          <a:lstStyle/>
          <a:p>
            <a:r>
              <a:rPr lang="en-US" dirty="0"/>
              <a:t>SQL Code/Description</a:t>
            </a:r>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1783303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3C7884-72BF-2B24-13C8-BD8A9DA8245A}"/>
              </a:ext>
            </a:extLst>
          </p:cNvPr>
          <p:cNvSpPr>
            <a:spLocks noGrp="1"/>
          </p:cNvSpPr>
          <p:nvPr>
            <p:ph type="title"/>
          </p:nvPr>
        </p:nvSpPr>
        <p:spPr>
          <a:xfrm>
            <a:off x="758952" y="379475"/>
            <a:ext cx="10671048" cy="1554480"/>
          </a:xfrm>
        </p:spPr>
        <p:txBody>
          <a:bodyPr anchor="ctr">
            <a:normAutofit/>
          </a:bodyPr>
          <a:lstStyle/>
          <a:p>
            <a:r>
              <a:rPr lang="en-US" sz="5100" dirty="0">
                <a:solidFill>
                  <a:schemeClr val="bg1"/>
                </a:solidFill>
              </a:rPr>
              <a:t>Report 2: Wine Purchases and Who distributes which. </a:t>
            </a:r>
          </a:p>
        </p:txBody>
      </p:sp>
      <p:sp>
        <p:nvSpPr>
          <p:cNvPr id="3" name="Content Placeholder 2">
            <a:extLst>
              <a:ext uri="{FF2B5EF4-FFF2-40B4-BE49-F238E27FC236}">
                <a16:creationId xmlns:a16="http://schemas.microsoft.com/office/drawing/2014/main" id="{1FBB7750-51BC-092D-3385-0F66A42F7491}"/>
              </a:ext>
            </a:extLst>
          </p:cNvPr>
          <p:cNvSpPr>
            <a:spLocks noGrp="1"/>
          </p:cNvSpPr>
          <p:nvPr>
            <p:ph idx="1"/>
          </p:nvPr>
        </p:nvSpPr>
        <p:spPr>
          <a:xfrm>
            <a:off x="758824" y="2607732"/>
            <a:ext cx="5225117" cy="3174357"/>
          </a:xfrm>
        </p:spPr>
        <p:txBody>
          <a:bodyPr>
            <a:normAutofit/>
          </a:bodyPr>
          <a:lstStyle/>
          <a:p>
            <a:r>
              <a:rPr lang="en-US" dirty="0"/>
              <a:t>SQL Code/Description</a:t>
            </a:r>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596743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3F1664-E984-743C-A5C1-DAEBF9AC6B76}"/>
              </a:ext>
            </a:extLst>
          </p:cNvPr>
          <p:cNvSpPr>
            <a:spLocks noGrp="1"/>
          </p:cNvSpPr>
          <p:nvPr>
            <p:ph type="title"/>
          </p:nvPr>
        </p:nvSpPr>
        <p:spPr>
          <a:xfrm>
            <a:off x="758952" y="379475"/>
            <a:ext cx="10671048" cy="1554480"/>
          </a:xfrm>
        </p:spPr>
        <p:txBody>
          <a:bodyPr anchor="ctr">
            <a:normAutofit/>
          </a:bodyPr>
          <a:lstStyle/>
          <a:p>
            <a:r>
              <a:rPr lang="en-US" sz="5100">
                <a:solidFill>
                  <a:schemeClr val="bg1"/>
                </a:solidFill>
              </a:rPr>
              <a:t>Report 3: Employee Hours per week over the last period</a:t>
            </a:r>
          </a:p>
        </p:txBody>
      </p:sp>
      <p:sp>
        <p:nvSpPr>
          <p:cNvPr id="3" name="Content Placeholder 2">
            <a:extLst>
              <a:ext uri="{FF2B5EF4-FFF2-40B4-BE49-F238E27FC236}">
                <a16:creationId xmlns:a16="http://schemas.microsoft.com/office/drawing/2014/main" id="{51749F38-385E-D63A-DE28-83FE8D4C00F1}"/>
              </a:ext>
            </a:extLst>
          </p:cNvPr>
          <p:cNvSpPr>
            <a:spLocks noGrp="1"/>
          </p:cNvSpPr>
          <p:nvPr>
            <p:ph idx="1"/>
          </p:nvPr>
        </p:nvSpPr>
        <p:spPr>
          <a:xfrm>
            <a:off x="758824" y="2607732"/>
            <a:ext cx="5601635" cy="3174357"/>
          </a:xfrm>
        </p:spPr>
        <p:txBody>
          <a:bodyPr>
            <a:normAutofit/>
          </a:bodyPr>
          <a:lstStyle/>
          <a:p>
            <a:r>
              <a:rPr lang="en-US" dirty="0"/>
              <a:t>SQL Code/Description</a:t>
            </a:r>
          </a:p>
          <a:p>
            <a:endParaRPr lang="en-US" dirty="0"/>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981163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8C122E-86D2-60B0-26F5-01CDA0E510AF}"/>
              </a:ext>
            </a:extLst>
          </p:cNvPr>
          <p:cNvSpPr>
            <a:spLocks noGrp="1"/>
          </p:cNvSpPr>
          <p:nvPr>
            <p:ph type="title"/>
          </p:nvPr>
        </p:nvSpPr>
        <p:spPr>
          <a:xfrm>
            <a:off x="758952" y="379475"/>
            <a:ext cx="10671048" cy="1554480"/>
          </a:xfrm>
        </p:spPr>
        <p:txBody>
          <a:bodyPr anchor="ctr">
            <a:normAutofit/>
          </a:bodyPr>
          <a:lstStyle/>
          <a:p>
            <a:r>
              <a:rPr lang="en-US">
                <a:solidFill>
                  <a:schemeClr val="bg1"/>
                </a:solidFill>
              </a:rPr>
              <a:t>Assumptions Made</a:t>
            </a:r>
          </a:p>
        </p:txBody>
      </p:sp>
      <p:sp>
        <p:nvSpPr>
          <p:cNvPr id="3" name="Content Placeholder 2">
            <a:extLst>
              <a:ext uri="{FF2B5EF4-FFF2-40B4-BE49-F238E27FC236}">
                <a16:creationId xmlns:a16="http://schemas.microsoft.com/office/drawing/2014/main" id="{3F31C386-372E-CFEC-28C5-24D27DFF4462}"/>
              </a:ext>
            </a:extLst>
          </p:cNvPr>
          <p:cNvSpPr>
            <a:spLocks noGrp="1"/>
          </p:cNvSpPr>
          <p:nvPr>
            <p:ph idx="1"/>
          </p:nvPr>
        </p:nvSpPr>
        <p:spPr>
          <a:xfrm>
            <a:off x="758824" y="2607732"/>
            <a:ext cx="10493376" cy="3870793"/>
          </a:xfrm>
        </p:spPr>
        <p:txBody>
          <a:bodyPr>
            <a:normAutofit lnSpcReduction="10000"/>
          </a:bodyPr>
          <a:lstStyle/>
          <a:p>
            <a:r>
              <a:rPr lang="en-US" dirty="0"/>
              <a:t>List all assumptions made during the process of making the ERD and business rules.</a:t>
            </a:r>
          </a:p>
          <a:p>
            <a:r>
              <a:rPr lang="en-US" dirty="0"/>
              <a:t>(Such as the shipments vs orders relationships.)</a:t>
            </a:r>
          </a:p>
          <a:p>
            <a:endParaRPr lang="en-US" dirty="0"/>
          </a:p>
          <a:p>
            <a:endParaRPr lang="en-US" dirty="0"/>
          </a:p>
          <a:p>
            <a:endParaRPr lang="en-US" dirty="0"/>
          </a:p>
          <a:p>
            <a:r>
              <a:rPr lang="en-US" dirty="0"/>
              <a:t>The wines “age” differently. Without the information for the year the wine was produced, we would have incomplete data and be unable to know which year is not selling and which is. Based on the report on the wines that haven’t sold, we can locate Chardonnay 2024, 2025 and Chablis 2024, 2025 are not fan favorites from our distributors. </a:t>
            </a:r>
          </a:p>
          <a:p>
            <a:endParaRPr lang="en-US" dirty="0"/>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891514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F1AAE4-D0BC-430F-A613-7BBAAECA0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22859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AA62CE-7C70-5184-EAB7-0BD784F2E62B}"/>
              </a:ext>
            </a:extLst>
          </p:cNvPr>
          <p:cNvSpPr>
            <a:spLocks noGrp="1"/>
          </p:cNvSpPr>
          <p:nvPr>
            <p:ph type="title"/>
          </p:nvPr>
        </p:nvSpPr>
        <p:spPr>
          <a:xfrm>
            <a:off x="758952" y="379475"/>
            <a:ext cx="10671048" cy="1554480"/>
          </a:xfrm>
        </p:spPr>
        <p:txBody>
          <a:bodyPr anchor="ctr">
            <a:normAutofit/>
          </a:bodyPr>
          <a:lstStyle/>
          <a:p>
            <a:r>
              <a:rPr lang="en-US">
                <a:solidFill>
                  <a:schemeClr val="bg1"/>
                </a:solidFill>
              </a:rPr>
              <a:t>Challenges and Resolutoins</a:t>
            </a:r>
          </a:p>
        </p:txBody>
      </p:sp>
      <p:sp>
        <p:nvSpPr>
          <p:cNvPr id="3" name="Content Placeholder 2">
            <a:extLst>
              <a:ext uri="{FF2B5EF4-FFF2-40B4-BE49-F238E27FC236}">
                <a16:creationId xmlns:a16="http://schemas.microsoft.com/office/drawing/2014/main" id="{DF0E4B31-DEAD-22EB-A51B-F1119227BAC1}"/>
              </a:ext>
            </a:extLst>
          </p:cNvPr>
          <p:cNvSpPr>
            <a:spLocks noGrp="1"/>
          </p:cNvSpPr>
          <p:nvPr>
            <p:ph idx="1"/>
          </p:nvPr>
        </p:nvSpPr>
        <p:spPr>
          <a:xfrm>
            <a:off x="758824" y="2607732"/>
            <a:ext cx="8412480" cy="3174357"/>
          </a:xfrm>
        </p:spPr>
        <p:txBody>
          <a:bodyPr>
            <a:normAutofit/>
          </a:bodyPr>
          <a:lstStyle/>
          <a:p>
            <a:r>
              <a:rPr lang="en-US" dirty="0"/>
              <a:t>List any hurdles during the ERD creation.</a:t>
            </a:r>
          </a:p>
          <a:p>
            <a:r>
              <a:rPr lang="en-US" dirty="0"/>
              <a:t>Any issues the team resolved?</a:t>
            </a:r>
          </a:p>
          <a:p>
            <a:r>
              <a:rPr lang="en-US" dirty="0"/>
              <a:t>Any lessons learned?</a:t>
            </a:r>
          </a:p>
        </p:txBody>
      </p:sp>
      <p:sp>
        <p:nvSpPr>
          <p:cNvPr id="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609625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12D766-775E-6702-6BEF-2E9A02262F4B}"/>
              </a:ext>
            </a:extLst>
          </p:cNvPr>
          <p:cNvSpPr>
            <a:spLocks noGrp="1"/>
          </p:cNvSpPr>
          <p:nvPr>
            <p:ph type="ctrTitle"/>
          </p:nvPr>
        </p:nvSpPr>
        <p:spPr>
          <a:xfrm>
            <a:off x="1078992" y="2840853"/>
            <a:ext cx="9390888" cy="2640466"/>
          </a:xfrm>
        </p:spPr>
        <p:txBody>
          <a:bodyPr>
            <a:normAutofit/>
          </a:bodyPr>
          <a:lstStyle/>
          <a:p>
            <a:r>
              <a:rPr lang="en-US"/>
              <a:t>Thanks for watching our presentation!</a:t>
            </a:r>
            <a:endParaRPr lang="en-US" dirty="0"/>
          </a:p>
        </p:txBody>
      </p:sp>
      <p:cxnSp>
        <p:nvCxnSpPr>
          <p:cNvPr id="20" name="Straight Connector 19">
            <a:extLst>
              <a:ext uri="{FF2B5EF4-FFF2-40B4-BE49-F238E27FC236}">
                <a16:creationId xmlns:a16="http://schemas.microsoft.com/office/drawing/2014/main" id="{63B10E47-AF6B-4C8A-B458-3C6CAF2EBA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8560" y="2519118"/>
            <a:ext cx="110134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Freeform 6">
            <a:extLst>
              <a:ext uri="{FF2B5EF4-FFF2-40B4-BE49-F238E27FC236}">
                <a16:creationId xmlns:a16="http://schemas.microsoft.com/office/drawing/2014/main" id="{B3BE00DD-5F52-49B1-A83B-F2E555AC5D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04216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HeadlinesVTI">
  <a:themeElements>
    <a:clrScheme name="Headlines">
      <a:dk1>
        <a:sysClr val="windowText" lastClr="000000"/>
      </a:dk1>
      <a:lt1>
        <a:sysClr val="window" lastClr="FFFFFF"/>
      </a:lt1>
      <a:dk2>
        <a:srgbClr val="232C41"/>
      </a:dk2>
      <a:lt2>
        <a:srgbClr val="F6F4EF"/>
      </a:lt2>
      <a:accent1>
        <a:srgbClr val="439EB7"/>
      </a:accent1>
      <a:accent2>
        <a:srgbClr val="E20E65"/>
      </a:accent2>
      <a:accent3>
        <a:srgbClr val="F59324"/>
      </a:accent3>
      <a:accent4>
        <a:srgbClr val="5046B9"/>
      </a:accent4>
      <a:accent5>
        <a:srgbClr val="5CB678"/>
      </a:accent5>
      <a:accent6>
        <a:srgbClr val="9717F7"/>
      </a:accent6>
      <a:hlink>
        <a:srgbClr val="E80095"/>
      </a:hlink>
      <a:folHlink>
        <a:srgbClr val="808080"/>
      </a:folHlink>
    </a:clrScheme>
    <a:fontScheme name="Custom 211">
      <a:majorFont>
        <a:latin typeface="Sitka Banner"/>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8000"/>
            <a:satMod val="170000"/>
          </a:schemeClr>
        </a:solidFill>
        <a:gradFill rotWithShape="1">
          <a:gsLst>
            <a:gs pos="0">
              <a:schemeClr val="phClr">
                <a:tint val="93000"/>
                <a:satMod val="16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VTI" id="{66EB4A02-0C0F-47F1-9F48-4E6882B9F967}" vid="{F3552358-4452-4FDA-9568-4F5DA32F7A60}"/>
    </a:ext>
  </a:extLst>
</a:theme>
</file>

<file path=docProps/app.xml><?xml version="1.0" encoding="utf-8"?>
<Properties xmlns="http://schemas.openxmlformats.org/officeDocument/2006/extended-properties" xmlns:vt="http://schemas.openxmlformats.org/officeDocument/2006/docPropsVTypes">
  <TotalTime>38</TotalTime>
  <Words>463</Words>
  <Application>Microsoft Office PowerPoint</Application>
  <PresentationFormat>Widescreen</PresentationFormat>
  <Paragraphs>41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Avenir Next LT Pro</vt:lpstr>
      <vt:lpstr>Sitka Banner</vt:lpstr>
      <vt:lpstr>HeadlinesVTI</vt:lpstr>
      <vt:lpstr>Bacchus Winery Case Study</vt:lpstr>
      <vt:lpstr>Group Introduction</vt:lpstr>
      <vt:lpstr>Case Study Overview</vt:lpstr>
      <vt:lpstr>Key Database Requirements</vt:lpstr>
      <vt:lpstr>Finalized ERD</vt:lpstr>
      <vt:lpstr>Reports selected for generation</vt:lpstr>
      <vt:lpstr>Report 1: Expected vs Actual Supply Delivery</vt:lpstr>
      <vt:lpstr>Report 2: Wine Purchases and Who distributes which. </vt:lpstr>
      <vt:lpstr>Report 3: Employee Hours per week over the last period</vt:lpstr>
      <vt:lpstr>Assumptions Made</vt:lpstr>
      <vt:lpstr>Challenges and Resolutoins</vt:lpstr>
      <vt:lpstr>Thanks for watching our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breutzmann</dc:creator>
  <cp:lastModifiedBy>Carolina Rodriguez</cp:lastModifiedBy>
  <cp:revision>2</cp:revision>
  <dcterms:created xsi:type="dcterms:W3CDTF">2025-12-10T02:37:12Z</dcterms:created>
  <dcterms:modified xsi:type="dcterms:W3CDTF">2025-12-11T00:33:58Z</dcterms:modified>
</cp:coreProperties>
</file>