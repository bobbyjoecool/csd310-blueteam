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sldIdLst>
    <p:sldId id="256" r:id="rId2"/>
    <p:sldId id="257" r:id="rId3"/>
    <p:sldId id="259" r:id="rId4"/>
    <p:sldId id="260" r:id="rId5"/>
    <p:sldId id="261" r:id="rId6"/>
    <p:sldId id="269"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64"/>
    <p:restoredTop sz="94708"/>
  </p:normalViewPr>
  <p:slideViewPr>
    <p:cSldViewPr snapToGrid="0">
      <p:cViewPr>
        <p:scale>
          <a:sx n="68" d="100"/>
          <a:sy n="68" d="100"/>
        </p:scale>
        <p:origin x="178" y="5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0B1320-49C8-4750-84A0-D345F0FE28AE}"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234E9577-BFF7-4015-AAFC-38DA75F1EB4F}">
      <dgm:prSet/>
      <dgm:spPr/>
      <dgm:t>
        <a:bodyPr/>
        <a:lstStyle/>
        <a:p>
          <a:r>
            <a:rPr lang="en-US"/>
            <a:t>Report to show difference in expected delivery of supplies and actual delivery of supplies.</a:t>
          </a:r>
        </a:p>
      </dgm:t>
    </dgm:pt>
    <dgm:pt modelId="{6BABF852-1474-406B-A4FF-F0CB6C323AF0}" type="parTrans" cxnId="{11DD1FE6-5EED-4F9A-9470-9785C71C5A44}">
      <dgm:prSet/>
      <dgm:spPr/>
      <dgm:t>
        <a:bodyPr/>
        <a:lstStyle/>
        <a:p>
          <a:endParaRPr lang="en-US"/>
        </a:p>
      </dgm:t>
    </dgm:pt>
    <dgm:pt modelId="{35540099-73F9-4DE6-91D3-777E5F3CA14D}" type="sibTrans" cxnId="{11DD1FE6-5EED-4F9A-9470-9785C71C5A44}">
      <dgm:prSet/>
      <dgm:spPr/>
      <dgm:t>
        <a:bodyPr/>
        <a:lstStyle/>
        <a:p>
          <a:endParaRPr lang="en-US"/>
        </a:p>
      </dgm:t>
    </dgm:pt>
    <dgm:pt modelId="{5D87FA5D-52E3-413B-8DF1-A886314C76DF}">
      <dgm:prSet/>
      <dgm:spPr/>
      <dgm:t>
        <a:bodyPr/>
        <a:lstStyle/>
        <a:p>
          <a:r>
            <a:rPr lang="en-US" dirty="0"/>
            <a:t>Report to show what wines the distributors are selling more.</a:t>
          </a:r>
        </a:p>
      </dgm:t>
    </dgm:pt>
    <dgm:pt modelId="{D75FF63A-4259-4A1C-9514-B2B2B19CA3DD}" type="parTrans" cxnId="{A7E00DD3-7FC0-4E67-A183-C04216F37D25}">
      <dgm:prSet/>
      <dgm:spPr/>
      <dgm:t>
        <a:bodyPr/>
        <a:lstStyle/>
        <a:p>
          <a:endParaRPr lang="en-US"/>
        </a:p>
      </dgm:t>
    </dgm:pt>
    <dgm:pt modelId="{FBBDCCCA-0FCF-4C3C-B78A-ECD4C15565B0}" type="sibTrans" cxnId="{A7E00DD3-7FC0-4E67-A183-C04216F37D25}">
      <dgm:prSet/>
      <dgm:spPr/>
      <dgm:t>
        <a:bodyPr/>
        <a:lstStyle/>
        <a:p>
          <a:endParaRPr lang="en-US"/>
        </a:p>
      </dgm:t>
    </dgm:pt>
    <dgm:pt modelId="{7E171F7E-D449-4BD2-93F8-B298EB3A2E50}">
      <dgm:prSet/>
      <dgm:spPr/>
      <dgm:t>
        <a:bodyPr/>
        <a:lstStyle/>
        <a:p>
          <a:r>
            <a:rPr lang="en-US"/>
            <a:t>Report to show average number of hours worked each week by employees over a period of time.</a:t>
          </a:r>
        </a:p>
      </dgm:t>
    </dgm:pt>
    <dgm:pt modelId="{103D1361-33BF-4AFC-B0D3-26561580C6DE}" type="parTrans" cxnId="{34743A2C-BCF0-4264-84B8-07BE57D6C20F}">
      <dgm:prSet/>
      <dgm:spPr/>
      <dgm:t>
        <a:bodyPr/>
        <a:lstStyle/>
        <a:p>
          <a:endParaRPr lang="en-US"/>
        </a:p>
      </dgm:t>
    </dgm:pt>
    <dgm:pt modelId="{0A55850B-ACD2-4EC3-8F58-F9A12822E288}" type="sibTrans" cxnId="{34743A2C-BCF0-4264-84B8-07BE57D6C20F}">
      <dgm:prSet/>
      <dgm:spPr/>
      <dgm:t>
        <a:bodyPr/>
        <a:lstStyle/>
        <a:p>
          <a:endParaRPr lang="en-US"/>
        </a:p>
      </dgm:t>
    </dgm:pt>
    <dgm:pt modelId="{E6945879-8777-4ED3-84C7-53EE9A42B8AF}" type="pres">
      <dgm:prSet presAssocID="{A00B1320-49C8-4750-84A0-D345F0FE28AE}" presName="root" presStyleCnt="0">
        <dgm:presLayoutVars>
          <dgm:dir/>
          <dgm:resizeHandles val="exact"/>
        </dgm:presLayoutVars>
      </dgm:prSet>
      <dgm:spPr/>
    </dgm:pt>
    <dgm:pt modelId="{142AF062-D2D6-4618-85B7-CF46428C7EBC}" type="pres">
      <dgm:prSet presAssocID="{234E9577-BFF7-4015-AAFC-38DA75F1EB4F}" presName="compNode" presStyleCnt="0"/>
      <dgm:spPr/>
    </dgm:pt>
    <dgm:pt modelId="{1CB15066-AAC5-486B-B06B-543A3FE35844}" type="pres">
      <dgm:prSet presAssocID="{234E9577-BFF7-4015-AAFC-38DA75F1EB4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ox trolley"/>
        </a:ext>
      </dgm:extLst>
    </dgm:pt>
    <dgm:pt modelId="{A863C5BB-1783-4F9A-99AD-021D69799958}" type="pres">
      <dgm:prSet presAssocID="{234E9577-BFF7-4015-AAFC-38DA75F1EB4F}" presName="spaceRect" presStyleCnt="0"/>
      <dgm:spPr/>
    </dgm:pt>
    <dgm:pt modelId="{ECFCB418-B400-422F-9F82-E26D8E4B0811}" type="pres">
      <dgm:prSet presAssocID="{234E9577-BFF7-4015-AAFC-38DA75F1EB4F}" presName="textRect" presStyleLbl="revTx" presStyleIdx="0" presStyleCnt="3">
        <dgm:presLayoutVars>
          <dgm:chMax val="1"/>
          <dgm:chPref val="1"/>
        </dgm:presLayoutVars>
      </dgm:prSet>
      <dgm:spPr/>
    </dgm:pt>
    <dgm:pt modelId="{5BA45129-F038-46E4-AB48-AA22DA516DEB}" type="pres">
      <dgm:prSet presAssocID="{35540099-73F9-4DE6-91D3-777E5F3CA14D}" presName="sibTrans" presStyleCnt="0"/>
      <dgm:spPr/>
    </dgm:pt>
    <dgm:pt modelId="{89D37E74-02DA-441C-BF0D-9558739A5867}" type="pres">
      <dgm:prSet presAssocID="{5D87FA5D-52E3-413B-8DF1-A886314C76DF}" presName="compNode" presStyleCnt="0"/>
      <dgm:spPr/>
    </dgm:pt>
    <dgm:pt modelId="{F387AB72-8AE8-46E2-8311-77EA799AFB76}" type="pres">
      <dgm:prSet presAssocID="{5D87FA5D-52E3-413B-8DF1-A886314C76D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rapes"/>
        </a:ext>
      </dgm:extLst>
    </dgm:pt>
    <dgm:pt modelId="{AFD6A12E-8817-4DED-B729-45069BA41122}" type="pres">
      <dgm:prSet presAssocID="{5D87FA5D-52E3-413B-8DF1-A886314C76DF}" presName="spaceRect" presStyleCnt="0"/>
      <dgm:spPr/>
    </dgm:pt>
    <dgm:pt modelId="{A42E8547-2386-488A-8480-E79CF2F5FDAC}" type="pres">
      <dgm:prSet presAssocID="{5D87FA5D-52E3-413B-8DF1-A886314C76DF}" presName="textRect" presStyleLbl="revTx" presStyleIdx="1" presStyleCnt="3" custLinFactY="6928" custLinFactNeighborX="4061" custLinFactNeighborY="100000">
        <dgm:presLayoutVars>
          <dgm:chMax val="1"/>
          <dgm:chPref val="1"/>
        </dgm:presLayoutVars>
      </dgm:prSet>
      <dgm:spPr/>
    </dgm:pt>
    <dgm:pt modelId="{9216CA46-4135-47F5-AEE3-1F1FCA2B52B4}" type="pres">
      <dgm:prSet presAssocID="{FBBDCCCA-0FCF-4C3C-B78A-ECD4C15565B0}" presName="sibTrans" presStyleCnt="0"/>
      <dgm:spPr/>
    </dgm:pt>
    <dgm:pt modelId="{E2AB836F-BA48-4648-9C2F-A6C63F9A453E}" type="pres">
      <dgm:prSet presAssocID="{7E171F7E-D449-4BD2-93F8-B298EB3A2E50}" presName="compNode" presStyleCnt="0"/>
      <dgm:spPr/>
    </dgm:pt>
    <dgm:pt modelId="{6530D6E0-A2CB-4031-A192-B54E747194EA}" type="pres">
      <dgm:prSet presAssocID="{7E171F7E-D449-4BD2-93F8-B298EB3A2E5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lock"/>
        </a:ext>
      </dgm:extLst>
    </dgm:pt>
    <dgm:pt modelId="{6DACCBBA-5D33-4492-BE25-F0009A7E7097}" type="pres">
      <dgm:prSet presAssocID="{7E171F7E-D449-4BD2-93F8-B298EB3A2E50}" presName="spaceRect" presStyleCnt="0"/>
      <dgm:spPr/>
    </dgm:pt>
    <dgm:pt modelId="{D87A7D52-2D94-4C1F-9667-5BB37499E376}" type="pres">
      <dgm:prSet presAssocID="{7E171F7E-D449-4BD2-93F8-B298EB3A2E50}" presName="textRect" presStyleLbl="revTx" presStyleIdx="2" presStyleCnt="3">
        <dgm:presLayoutVars>
          <dgm:chMax val="1"/>
          <dgm:chPref val="1"/>
        </dgm:presLayoutVars>
      </dgm:prSet>
      <dgm:spPr/>
    </dgm:pt>
  </dgm:ptLst>
  <dgm:cxnLst>
    <dgm:cxn modelId="{34743A2C-BCF0-4264-84B8-07BE57D6C20F}" srcId="{A00B1320-49C8-4750-84A0-D345F0FE28AE}" destId="{7E171F7E-D449-4BD2-93F8-B298EB3A2E50}" srcOrd="2" destOrd="0" parTransId="{103D1361-33BF-4AFC-B0D3-26561580C6DE}" sibTransId="{0A55850B-ACD2-4EC3-8F58-F9A12822E288}"/>
    <dgm:cxn modelId="{DE92E57B-65B4-4118-9757-9E57DC8BA7D8}" type="presOf" srcId="{234E9577-BFF7-4015-AAFC-38DA75F1EB4F}" destId="{ECFCB418-B400-422F-9F82-E26D8E4B0811}" srcOrd="0" destOrd="0" presId="urn:microsoft.com/office/officeart/2018/2/layout/IconLabelList"/>
    <dgm:cxn modelId="{3C0711B3-E4EA-4FCA-8B00-4B40C62D51BA}" type="presOf" srcId="{7E171F7E-D449-4BD2-93F8-B298EB3A2E50}" destId="{D87A7D52-2D94-4C1F-9667-5BB37499E376}" srcOrd="0" destOrd="0" presId="urn:microsoft.com/office/officeart/2018/2/layout/IconLabelList"/>
    <dgm:cxn modelId="{A7E00DD3-7FC0-4E67-A183-C04216F37D25}" srcId="{A00B1320-49C8-4750-84A0-D345F0FE28AE}" destId="{5D87FA5D-52E3-413B-8DF1-A886314C76DF}" srcOrd="1" destOrd="0" parTransId="{D75FF63A-4259-4A1C-9514-B2B2B19CA3DD}" sibTransId="{FBBDCCCA-0FCF-4C3C-B78A-ECD4C15565B0}"/>
    <dgm:cxn modelId="{8CFA3BDC-12D0-4D27-B58B-EFB59374697C}" type="presOf" srcId="{5D87FA5D-52E3-413B-8DF1-A886314C76DF}" destId="{A42E8547-2386-488A-8480-E79CF2F5FDAC}" srcOrd="0" destOrd="0" presId="urn:microsoft.com/office/officeart/2018/2/layout/IconLabelList"/>
    <dgm:cxn modelId="{11DD1FE6-5EED-4F9A-9470-9785C71C5A44}" srcId="{A00B1320-49C8-4750-84A0-D345F0FE28AE}" destId="{234E9577-BFF7-4015-AAFC-38DA75F1EB4F}" srcOrd="0" destOrd="0" parTransId="{6BABF852-1474-406B-A4FF-F0CB6C323AF0}" sibTransId="{35540099-73F9-4DE6-91D3-777E5F3CA14D}"/>
    <dgm:cxn modelId="{CEB134F8-8271-4C35-8DF6-0A5747E5C7BE}" type="presOf" srcId="{A00B1320-49C8-4750-84A0-D345F0FE28AE}" destId="{E6945879-8777-4ED3-84C7-53EE9A42B8AF}" srcOrd="0" destOrd="0" presId="urn:microsoft.com/office/officeart/2018/2/layout/IconLabelList"/>
    <dgm:cxn modelId="{D880A6C8-C5E0-4FBE-AB08-259450EE6C9F}" type="presParOf" srcId="{E6945879-8777-4ED3-84C7-53EE9A42B8AF}" destId="{142AF062-D2D6-4618-85B7-CF46428C7EBC}" srcOrd="0" destOrd="0" presId="urn:microsoft.com/office/officeart/2018/2/layout/IconLabelList"/>
    <dgm:cxn modelId="{DC3A1AF6-260F-4124-A42A-4FD877BD0961}" type="presParOf" srcId="{142AF062-D2D6-4618-85B7-CF46428C7EBC}" destId="{1CB15066-AAC5-486B-B06B-543A3FE35844}" srcOrd="0" destOrd="0" presId="urn:microsoft.com/office/officeart/2018/2/layout/IconLabelList"/>
    <dgm:cxn modelId="{6A95310B-EB48-400C-B3A9-570E13929F48}" type="presParOf" srcId="{142AF062-D2D6-4618-85B7-CF46428C7EBC}" destId="{A863C5BB-1783-4F9A-99AD-021D69799958}" srcOrd="1" destOrd="0" presId="urn:microsoft.com/office/officeart/2018/2/layout/IconLabelList"/>
    <dgm:cxn modelId="{C39FD1F6-03DC-4309-8FE0-B325A45CC945}" type="presParOf" srcId="{142AF062-D2D6-4618-85B7-CF46428C7EBC}" destId="{ECFCB418-B400-422F-9F82-E26D8E4B0811}" srcOrd="2" destOrd="0" presId="urn:microsoft.com/office/officeart/2018/2/layout/IconLabelList"/>
    <dgm:cxn modelId="{5FA864B4-7ED6-4194-BE68-B8C3AF8D812C}" type="presParOf" srcId="{E6945879-8777-4ED3-84C7-53EE9A42B8AF}" destId="{5BA45129-F038-46E4-AB48-AA22DA516DEB}" srcOrd="1" destOrd="0" presId="urn:microsoft.com/office/officeart/2018/2/layout/IconLabelList"/>
    <dgm:cxn modelId="{BD95813C-2E46-442F-B701-341A1E679695}" type="presParOf" srcId="{E6945879-8777-4ED3-84C7-53EE9A42B8AF}" destId="{89D37E74-02DA-441C-BF0D-9558739A5867}" srcOrd="2" destOrd="0" presId="urn:microsoft.com/office/officeart/2018/2/layout/IconLabelList"/>
    <dgm:cxn modelId="{9EAAF5B9-4233-45D6-BE22-397A8C661773}" type="presParOf" srcId="{89D37E74-02DA-441C-BF0D-9558739A5867}" destId="{F387AB72-8AE8-46E2-8311-77EA799AFB76}" srcOrd="0" destOrd="0" presId="urn:microsoft.com/office/officeart/2018/2/layout/IconLabelList"/>
    <dgm:cxn modelId="{D1675F6B-4987-4AC3-BCC2-FD745F073359}" type="presParOf" srcId="{89D37E74-02DA-441C-BF0D-9558739A5867}" destId="{AFD6A12E-8817-4DED-B729-45069BA41122}" srcOrd="1" destOrd="0" presId="urn:microsoft.com/office/officeart/2018/2/layout/IconLabelList"/>
    <dgm:cxn modelId="{CD9476AF-DB1C-4BF0-994E-2C5CE6263FB3}" type="presParOf" srcId="{89D37E74-02DA-441C-BF0D-9558739A5867}" destId="{A42E8547-2386-488A-8480-E79CF2F5FDAC}" srcOrd="2" destOrd="0" presId="urn:microsoft.com/office/officeart/2018/2/layout/IconLabelList"/>
    <dgm:cxn modelId="{31026593-5051-4ED1-820A-D4C1EA0BFD8D}" type="presParOf" srcId="{E6945879-8777-4ED3-84C7-53EE9A42B8AF}" destId="{9216CA46-4135-47F5-AEE3-1F1FCA2B52B4}" srcOrd="3" destOrd="0" presId="urn:microsoft.com/office/officeart/2018/2/layout/IconLabelList"/>
    <dgm:cxn modelId="{A36BFA6A-F5EC-495C-9034-F6499C42528A}" type="presParOf" srcId="{E6945879-8777-4ED3-84C7-53EE9A42B8AF}" destId="{E2AB836F-BA48-4648-9C2F-A6C63F9A453E}" srcOrd="4" destOrd="0" presId="urn:microsoft.com/office/officeart/2018/2/layout/IconLabelList"/>
    <dgm:cxn modelId="{597770A5-CC68-4FA3-8C84-72B4F7E5EA5D}" type="presParOf" srcId="{E2AB836F-BA48-4648-9C2F-A6C63F9A453E}" destId="{6530D6E0-A2CB-4031-A192-B54E747194EA}" srcOrd="0" destOrd="0" presId="urn:microsoft.com/office/officeart/2018/2/layout/IconLabelList"/>
    <dgm:cxn modelId="{8E7F819A-5EBE-4333-9E45-EC0F65243FB9}" type="presParOf" srcId="{E2AB836F-BA48-4648-9C2F-A6C63F9A453E}" destId="{6DACCBBA-5D33-4492-BE25-F0009A7E7097}" srcOrd="1" destOrd="0" presId="urn:microsoft.com/office/officeart/2018/2/layout/IconLabelList"/>
    <dgm:cxn modelId="{5D90E117-35D0-4B15-9F85-0A674446C30D}" type="presParOf" srcId="{E2AB836F-BA48-4648-9C2F-A6C63F9A453E}" destId="{D87A7D52-2D94-4C1F-9667-5BB37499E376}"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B15066-AAC5-486B-B06B-543A3FE35844}">
      <dsp:nvSpPr>
        <dsp:cNvPr id="0" name=""/>
        <dsp:cNvSpPr/>
      </dsp:nvSpPr>
      <dsp:spPr>
        <a:xfrm>
          <a:off x="932131" y="930748"/>
          <a:ext cx="1448032" cy="144803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CFCB418-B400-422F-9F82-E26D8E4B0811}">
      <dsp:nvSpPr>
        <dsp:cNvPr id="0" name=""/>
        <dsp:cNvSpPr/>
      </dsp:nvSpPr>
      <dsp:spPr>
        <a:xfrm>
          <a:off x="47222" y="2761396"/>
          <a:ext cx="3217851"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pPr>
          <a:r>
            <a:rPr lang="en-US" sz="1600" kern="1200"/>
            <a:t>Report to show difference in expected delivery of supplies and actual delivery of supplies.</a:t>
          </a:r>
        </a:p>
      </dsp:txBody>
      <dsp:txXfrm>
        <a:off x="47222" y="2761396"/>
        <a:ext cx="3217851" cy="720000"/>
      </dsp:txXfrm>
    </dsp:sp>
    <dsp:sp modelId="{F387AB72-8AE8-46E2-8311-77EA799AFB76}">
      <dsp:nvSpPr>
        <dsp:cNvPr id="0" name=""/>
        <dsp:cNvSpPr/>
      </dsp:nvSpPr>
      <dsp:spPr>
        <a:xfrm>
          <a:off x="4713107" y="930748"/>
          <a:ext cx="1448032" cy="144803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2E8547-2386-488A-8480-E79CF2F5FDAC}">
      <dsp:nvSpPr>
        <dsp:cNvPr id="0" name=""/>
        <dsp:cNvSpPr/>
      </dsp:nvSpPr>
      <dsp:spPr>
        <a:xfrm>
          <a:off x="3958874" y="3531278"/>
          <a:ext cx="3217851"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pPr>
          <a:r>
            <a:rPr lang="en-US" sz="1600" kern="1200" dirty="0"/>
            <a:t>Report to show what wines the distributors are selling more.</a:t>
          </a:r>
        </a:p>
      </dsp:txBody>
      <dsp:txXfrm>
        <a:off x="3958874" y="3531278"/>
        <a:ext cx="3217851" cy="720000"/>
      </dsp:txXfrm>
    </dsp:sp>
    <dsp:sp modelId="{6530D6E0-A2CB-4031-A192-B54E747194EA}">
      <dsp:nvSpPr>
        <dsp:cNvPr id="0" name=""/>
        <dsp:cNvSpPr/>
      </dsp:nvSpPr>
      <dsp:spPr>
        <a:xfrm>
          <a:off x="8494082" y="930748"/>
          <a:ext cx="1448032" cy="144803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7A7D52-2D94-4C1F-9667-5BB37499E376}">
      <dsp:nvSpPr>
        <dsp:cNvPr id="0" name=""/>
        <dsp:cNvSpPr/>
      </dsp:nvSpPr>
      <dsp:spPr>
        <a:xfrm>
          <a:off x="7609172" y="2761396"/>
          <a:ext cx="3217851"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90000"/>
            </a:lnSpc>
            <a:spcBef>
              <a:spcPct val="0"/>
            </a:spcBef>
            <a:spcAft>
              <a:spcPct val="35000"/>
            </a:spcAft>
            <a:buNone/>
          </a:pPr>
          <a:r>
            <a:rPr lang="en-US" sz="1600" kern="1200"/>
            <a:t>Report to show average number of hours worked each week by employees over a period of time.</a:t>
          </a:r>
        </a:p>
      </dsp:txBody>
      <dsp:txXfrm>
        <a:off x="7609172" y="2761396"/>
        <a:ext cx="3217851"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12/11/2025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12/11/2025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12/11/2025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7.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Susan Sampson</a:t>
            </a:r>
          </a:p>
        </p:txBody>
      </p:sp>
      <p:cxnSp>
        <p:nvCxnSpPr>
          <p:cNvPr id="34" name="Straight Connector 33">
            <a:extLst>
              <a:ext uri="{FF2B5EF4-FFF2-40B4-BE49-F238E27FC236}">
                <a16:creationId xmlns:a16="http://schemas.microsoft.com/office/drawing/2014/main" id="{E3B95BE3-D5B2-4F38-9A01-17866C9FB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40408" y="4555071"/>
            <a:ext cx="53035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descr="Abstract design of flower petals in pastel">
            <a:extLst>
              <a:ext uri="{FF2B5EF4-FFF2-40B4-BE49-F238E27FC236}">
                <a16:creationId xmlns:a16="http://schemas.microsoft.com/office/drawing/2014/main" id="{03F2FB7D-2540-A845-156B-66FD81531957}"/>
              </a:ext>
            </a:extLst>
          </p:cNvPr>
          <p:cNvPicPr>
            <a:picLocks noChangeAspect="1"/>
          </p:cNvPicPr>
          <p:nvPr/>
        </p:nvPicPr>
        <p:blipFill>
          <a:blip r:embed="rId2"/>
          <a:srcRect l="20550" r="29642" b="2"/>
          <a:stretch>
            <a:fillRect/>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36"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chemeClr val="accent1">
                    <a:lumMod val="60000"/>
                    <a:lumOff val="40000"/>
                  </a:schemeClr>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758952" y="379475"/>
            <a:ext cx="10671048" cy="1554480"/>
          </a:xfrm>
        </p:spPr>
        <p:txBody>
          <a:bodyPr vert="horz" lIns="91440" tIns="45720" rIns="91440" bIns="45720" rtlCol="0" anchor="ctr">
            <a:normAutofit/>
          </a:bodyPr>
          <a:lstStyle/>
          <a:p>
            <a:r>
              <a:rPr lang="en-US" dirty="0">
                <a:solidFill>
                  <a:schemeClr val="bg1"/>
                </a:solidFill>
              </a:rPr>
              <a:t>Group Introduction</a:t>
            </a:r>
          </a:p>
        </p:txBody>
      </p: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758824" y="2607732"/>
            <a:ext cx="7618694" cy="3437468"/>
          </a:xfrm>
        </p:spPr>
        <p:txBody>
          <a:bodyPr vert="horz" lIns="91440" tIns="45720" rIns="91440" bIns="45720" rtlCol="0">
            <a:normAutofit fontScale="85000" lnSpcReduction="10000"/>
          </a:bodyPr>
          <a:lstStyle/>
          <a:p>
            <a:pPr marL="0" indent="0">
              <a:buNone/>
            </a:pPr>
            <a:r>
              <a:rPr lang="en-US" dirty="0"/>
              <a:t>We are part of Team Blue and for our case study we decided to choose the Bacchus Winery Case. Our team members are Robert, Sara and Carolina.</a:t>
            </a:r>
          </a:p>
          <a:p>
            <a:pPr marL="0" indent="0">
              <a:buNone/>
            </a:pPr>
            <a:r>
              <a:rPr lang="en-US" dirty="0"/>
              <a:t>Robert contributed the business rules, the initial ERD, and prepared a report for how many hours each employee worked during the last quarter.</a:t>
            </a:r>
          </a:p>
          <a:p>
            <a:pPr marL="0" indent="0">
              <a:buNone/>
            </a:pPr>
            <a:r>
              <a:rPr lang="en-US" dirty="0"/>
              <a:t>Sara contributed updates to the initial ERD and database, while preparing a report on supplies delivery time and any gap between expected delivery. </a:t>
            </a:r>
          </a:p>
          <a:p>
            <a:pPr marL="0" indent="0">
              <a:buNone/>
            </a:pPr>
            <a:r>
              <a:rPr lang="en-US" dirty="0"/>
              <a:t> Carolina contributed updates to the business rules and initial ERD and prepared a report on which distributor orders which wine, which wine sold, and which didn’t. </a:t>
            </a:r>
          </a:p>
          <a:p>
            <a:pPr marL="0" indent="0">
              <a:buNone/>
            </a:pPr>
            <a:r>
              <a:rPr lang="en-US" dirty="0"/>
              <a:t>Together we prepared this presentation and took note on the assumptions we made during this project.</a:t>
            </a:r>
          </a:p>
          <a:p>
            <a:pPr marL="0" indent="0">
              <a:buNone/>
            </a:pPr>
            <a:endParaRPr lang="en-US" dirty="0"/>
          </a:p>
        </p:txBody>
      </p:sp>
      <p:sp>
        <p:nvSpPr>
          <p:cNvPr id="2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8599561" y="2509712"/>
            <a:ext cx="3370396" cy="3370396"/>
          </a:xfrm>
          <a:prstGeom prst="rect">
            <a:avLst/>
          </a:prstGeom>
        </p:spPr>
      </p:pic>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379475"/>
            <a:ext cx="10671048" cy="1731713"/>
          </a:xfrm>
        </p:spPr>
        <p:txBody>
          <a:bodyPr vert="horz" lIns="91440" tIns="45720" rIns="91440" bIns="45720" rtlCol="0" anchor="ctr">
            <a:no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758824" y="2607732"/>
            <a:ext cx="8033636" cy="3300051"/>
          </a:xfrm>
        </p:spPr>
        <p:txBody>
          <a:bodyPr vert="horz" lIns="91440" tIns="45720" rIns="91440" bIns="45720" rtlCol="0">
            <a:normAutofit/>
          </a:bodyPr>
          <a:lstStyle/>
          <a:p>
            <a:r>
              <a:rPr lang="en-US"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r>
              <a:rPr lang="en-US" dirty="0"/>
              <a:t>Our objective was to design a database structure, create exact reports and ensure data is clear for new decisions. </a:t>
            </a:r>
          </a:p>
          <a:p>
            <a:pPr marL="0" indent="0">
              <a:buNone/>
            </a:pPr>
            <a:endParaRPr lang="en-US" dirty="0"/>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8792460" y="2411693"/>
            <a:ext cx="3370396" cy="3370396"/>
          </a:xfrm>
          <a:prstGeom prst="rect">
            <a:avLst/>
          </a:prstGeom>
        </p:spPr>
      </p:pic>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420625"/>
            <a:ext cx="10667998" cy="1326814"/>
          </a:xfrm>
        </p:spPr>
        <p:txBody>
          <a:bodyPr anchor="ctr">
            <a:normAutofit/>
          </a:bodyPr>
          <a:lstStyle/>
          <a:p>
            <a:r>
              <a:rPr lang="en-US">
                <a:solidFill>
                  <a:schemeClr val="bg1"/>
                </a:solidFill>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758951" y="2413169"/>
            <a:ext cx="7654661" cy="4024206"/>
          </a:xfrm>
        </p:spPr>
        <p:txBody>
          <a:bodyPr anchor="ctr">
            <a:normAutofit/>
          </a:bodyPr>
          <a:lstStyle/>
          <a:p>
            <a:r>
              <a:rPr lang="en-US" dirty="0"/>
              <a:t>List Business Rules Identified that the database needs to solve.</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13614" y="2413169"/>
            <a:ext cx="3370396" cy="3370396"/>
          </a:xfrm>
          <a:prstGeom prst="rect">
            <a:avLst/>
          </a:prstGeom>
        </p:spPr>
      </p:pic>
      <p:sp>
        <p:nvSpPr>
          <p:cNvPr id="14"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Finalized ERD </a:t>
            </a:r>
            <a:r>
              <a:rPr lang="en-US" sz="2800" dirty="0">
                <a:solidFill>
                  <a:schemeClr val="bg1"/>
                </a:solidFill>
              </a:rPr>
              <a:t>part1</a:t>
            </a:r>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pic>
        <p:nvPicPr>
          <p:cNvPr id="7" name="Content Placeholder 6" descr="A diagram of a supply chain&#10;&#10;AI-generated content may be incorrect.">
            <a:extLst>
              <a:ext uri="{FF2B5EF4-FFF2-40B4-BE49-F238E27FC236}">
                <a16:creationId xmlns:a16="http://schemas.microsoft.com/office/drawing/2014/main" id="{D50B087E-986A-CACE-09D1-F3F010BC9D25}"/>
              </a:ext>
            </a:extLst>
          </p:cNvPr>
          <p:cNvPicPr>
            <a:picLocks noGrp="1" noChangeAspect="1"/>
          </p:cNvPicPr>
          <p:nvPr>
            <p:ph idx="1"/>
          </p:nvPr>
        </p:nvPicPr>
        <p:blipFill>
          <a:blip r:embed="rId2"/>
          <a:stretch>
            <a:fillRect/>
          </a:stretch>
        </p:blipFill>
        <p:spPr>
          <a:xfrm>
            <a:off x="2882867" y="1657500"/>
            <a:ext cx="4218940" cy="47545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 name="Picture 10" descr="A diagram of a workflow&#10;&#10;AI-generated content may be incorrect.">
            <a:extLst>
              <a:ext uri="{FF2B5EF4-FFF2-40B4-BE49-F238E27FC236}">
                <a16:creationId xmlns:a16="http://schemas.microsoft.com/office/drawing/2014/main" id="{9292891A-F83D-473A-AEE6-70D895894A72}"/>
              </a:ext>
            </a:extLst>
          </p:cNvPr>
          <p:cNvPicPr>
            <a:picLocks noChangeAspect="1"/>
          </p:cNvPicPr>
          <p:nvPr/>
        </p:nvPicPr>
        <p:blipFill>
          <a:blip r:embed="rId3"/>
          <a:stretch>
            <a:fillRect/>
          </a:stretch>
        </p:blipFill>
        <p:spPr>
          <a:xfrm>
            <a:off x="7481283" y="100751"/>
            <a:ext cx="2886478" cy="623021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cxnSp>
        <p:nvCxnSpPr>
          <p:cNvPr id="23" name="Straight Connector 22">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25" name="Rectangle 24">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C32BD7-7739-3534-999B-853BE79E1ABB}"/>
              </a:ext>
            </a:extLst>
          </p:cNvPr>
          <p:cNvSpPr>
            <a:spLocks noGrp="1"/>
          </p:cNvSpPr>
          <p:nvPr>
            <p:ph type="title"/>
          </p:nvPr>
        </p:nvSpPr>
        <p:spPr>
          <a:xfrm>
            <a:off x="401260" y="253382"/>
            <a:ext cx="7344246" cy="1177386"/>
          </a:xfrm>
        </p:spPr>
        <p:txBody>
          <a:bodyPr vert="horz" lIns="91440" tIns="45720" rIns="91440" bIns="45720" rtlCol="0" anchor="t">
            <a:normAutofit/>
          </a:bodyPr>
          <a:lstStyle/>
          <a:p>
            <a:r>
              <a:rPr lang="en-US" sz="6600" dirty="0"/>
              <a:t>Finalized ERD  </a:t>
            </a:r>
            <a:r>
              <a:rPr lang="en-US" sz="2800" dirty="0"/>
              <a:t>part2</a:t>
            </a:r>
          </a:p>
        </p:txBody>
      </p:sp>
      <p:sp>
        <p:nvSpPr>
          <p:cNvPr id="3" name="Text Placeholder 2">
            <a:extLst>
              <a:ext uri="{FF2B5EF4-FFF2-40B4-BE49-F238E27FC236}">
                <a16:creationId xmlns:a16="http://schemas.microsoft.com/office/drawing/2014/main" id="{07473D67-04ED-BDA4-70C7-54A19633C49D}"/>
              </a:ext>
            </a:extLst>
          </p:cNvPr>
          <p:cNvSpPr>
            <a:spLocks noGrp="1"/>
          </p:cNvSpPr>
          <p:nvPr>
            <p:ph type="body" idx="1"/>
          </p:nvPr>
        </p:nvSpPr>
        <p:spPr>
          <a:xfrm>
            <a:off x="9488244" y="1143000"/>
            <a:ext cx="2302495" cy="4375326"/>
          </a:xfrm>
        </p:spPr>
        <p:txBody>
          <a:bodyPr vert="horz" lIns="91440" tIns="45720" rIns="91440" bIns="45720" rtlCol="0" anchor="b">
            <a:normAutofit/>
          </a:bodyPr>
          <a:lstStyle/>
          <a:p>
            <a:pPr>
              <a:lnSpc>
                <a:spcPct val="100000"/>
              </a:lnSpc>
            </a:pPr>
            <a:endParaRPr lang="en-US" sz="2200" dirty="0"/>
          </a:p>
        </p:txBody>
      </p:sp>
      <p:cxnSp>
        <p:nvCxnSpPr>
          <p:cNvPr id="27" name="Straight Connector 26">
            <a:extLst>
              <a:ext uri="{FF2B5EF4-FFF2-40B4-BE49-F238E27FC236}">
                <a16:creationId xmlns:a16="http://schemas.microsoft.com/office/drawing/2014/main" id="{5FD019AA-952B-4B1F-936C-2012210EB0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591" y="1028928"/>
            <a:ext cx="6094409" cy="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6">
            <a:extLst>
              <a:ext uri="{FF2B5EF4-FFF2-40B4-BE49-F238E27FC236}">
                <a16:creationId xmlns:a16="http://schemas.microsoft.com/office/drawing/2014/main" id="{F8B3EA0B-3940-4613-830F-9A701BADF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3019425"/>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2"/>
          </a:solidFill>
          <a:ln w="0">
            <a:noFill/>
            <a:prstDash val="solid"/>
            <a:round/>
            <a:headEnd/>
            <a:tailEnd/>
          </a:ln>
        </p:spPr>
        <p:txBody>
          <a:bodyPr/>
          <a:lstStyle/>
          <a:p>
            <a:endParaRPr lang="en-US"/>
          </a:p>
        </p:txBody>
      </p:sp>
      <p:cxnSp>
        <p:nvCxnSpPr>
          <p:cNvPr id="31" name="Straight Connector 30">
            <a:extLst>
              <a:ext uri="{FF2B5EF4-FFF2-40B4-BE49-F238E27FC236}">
                <a16:creationId xmlns:a16="http://schemas.microsoft.com/office/drawing/2014/main" id="{ADEF486B-08F9-49C8-BDCF-55EC6CC4557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4656" y="5840060"/>
            <a:ext cx="465734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Picture 4" descr="A diagram of a computer&#10;&#10;AI-generated content may be incorrect.">
            <a:extLst>
              <a:ext uri="{FF2B5EF4-FFF2-40B4-BE49-F238E27FC236}">
                <a16:creationId xmlns:a16="http://schemas.microsoft.com/office/drawing/2014/main" id="{FE965734-BA10-7AC8-73F6-BCDD7C2AA6EB}"/>
              </a:ext>
            </a:extLst>
          </p:cNvPr>
          <p:cNvPicPr>
            <a:picLocks noChangeAspect="1"/>
          </p:cNvPicPr>
          <p:nvPr/>
        </p:nvPicPr>
        <p:blipFill>
          <a:blip r:embed="rId2"/>
          <a:stretch>
            <a:fillRect/>
          </a:stretch>
        </p:blipFill>
        <p:spPr>
          <a:xfrm>
            <a:off x="581000" y="1133073"/>
            <a:ext cx="8810544" cy="5411004"/>
          </a:xfrm>
          <a:prstGeom prst="rect">
            <a:avLst/>
          </a:prstGeom>
        </p:spPr>
      </p:pic>
    </p:spTree>
    <p:extLst>
      <p:ext uri="{BB962C8B-B14F-4D97-AF65-F5344CB8AC3E}">
        <p14:creationId xmlns:p14="http://schemas.microsoft.com/office/powerpoint/2010/main" val="2357318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0"/>
            <a:ext cx="9783542" cy="1179029"/>
          </a:xfrm>
        </p:spPr>
        <p:txBody>
          <a:bodyPr anchor="ctr">
            <a:normAutofit/>
          </a:bodyPr>
          <a:lstStyle/>
          <a:p>
            <a:r>
              <a:rPr lang="en-US" dirty="0">
                <a:solidFill>
                  <a:schemeClr val="bg1"/>
                </a:solidFill>
              </a:rPr>
              <a:t>Reports selected for generation</a:t>
            </a:r>
          </a:p>
        </p:txBody>
      </p:sp>
      <p:sp>
        <p:nvSpPr>
          <p:cNvPr id="13"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2" y="568410"/>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bg1"/>
          </a:solidFill>
          <a:ln w="0">
            <a:noFill/>
            <a:prstDash val="solid"/>
            <a:round/>
            <a:headEnd/>
            <a:tailEnd/>
          </a:ln>
        </p:spPr>
        <p:txBody>
          <a:bodyPr anchor="ctr"/>
          <a:lstStyle/>
          <a:p>
            <a:endParaRPr lang="en-US"/>
          </a:p>
        </p:txBody>
      </p:sp>
      <p:graphicFrame>
        <p:nvGraphicFramePr>
          <p:cNvPr id="5" name="Content Placeholder 2">
            <a:extLst>
              <a:ext uri="{FF2B5EF4-FFF2-40B4-BE49-F238E27FC236}">
                <a16:creationId xmlns:a16="http://schemas.microsoft.com/office/drawing/2014/main" id="{900471DD-2729-7B19-9AC3-AFAB647CD620}"/>
              </a:ext>
            </a:extLst>
          </p:cNvPr>
          <p:cNvGraphicFramePr>
            <a:graphicFrameLocks noGrp="1"/>
          </p:cNvGraphicFramePr>
          <p:nvPr>
            <p:ph idx="1"/>
            <p:extLst>
              <p:ext uri="{D42A27DB-BD31-4B8C-83A1-F6EECF244321}">
                <p14:modId xmlns:p14="http://schemas.microsoft.com/office/powerpoint/2010/main" val="584049140"/>
              </p:ext>
            </p:extLst>
          </p:nvPr>
        </p:nvGraphicFramePr>
        <p:xfrm>
          <a:off x="758952" y="2606721"/>
          <a:ext cx="10874247" cy="441214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descr="A screenshot of a computer screen&#10;&#10;AI-generated content may be incorrect.">
            <a:extLst>
              <a:ext uri="{FF2B5EF4-FFF2-40B4-BE49-F238E27FC236}">
                <a16:creationId xmlns:a16="http://schemas.microsoft.com/office/drawing/2014/main" id="{B55188E0-0015-5180-0868-E54C08B4E5E6}"/>
              </a:ext>
            </a:extLst>
          </p:cNvPr>
          <p:cNvPicPr>
            <a:picLocks noChangeAspect="1"/>
          </p:cNvPicPr>
          <p:nvPr/>
        </p:nvPicPr>
        <p:blipFill>
          <a:blip r:embed="rId7"/>
          <a:stretch>
            <a:fillRect/>
          </a:stretch>
        </p:blipFill>
        <p:spPr>
          <a:xfrm>
            <a:off x="4505769" y="1628273"/>
            <a:ext cx="3641951" cy="4497374"/>
          </a:xfrm>
          <a:prstGeom prst="rect">
            <a:avLst/>
          </a:prstGeom>
        </p:spPr>
      </p:pic>
    </p:spTree>
    <p:extLst>
      <p:ext uri="{BB962C8B-B14F-4D97-AF65-F5344CB8AC3E}">
        <p14:creationId xmlns:p14="http://schemas.microsoft.com/office/powerpoint/2010/main" val="4088206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758952" y="379475"/>
            <a:ext cx="10671048" cy="1554480"/>
          </a:xfrm>
        </p:spPr>
        <p:txBody>
          <a:bodyPr anchor="ctr">
            <a:normAutofit/>
          </a:bodyPr>
          <a:lstStyle/>
          <a:p>
            <a:r>
              <a:rPr lang="en-US" sz="5100">
                <a:solidFill>
                  <a:schemeClr val="bg1"/>
                </a:solidFill>
              </a:rPr>
              <a:t>Report 1: Expected vs Actual Supply Delivery</a:t>
            </a:r>
          </a:p>
        </p:txBody>
      </p:sp>
      <p:sp>
        <p:nvSpPr>
          <p:cNvPr id="3" name="Content Placeholder 2">
            <a:extLst>
              <a:ext uri="{FF2B5EF4-FFF2-40B4-BE49-F238E27FC236}">
                <a16:creationId xmlns:a16="http://schemas.microsoft.com/office/drawing/2014/main" id="{C3F1E463-6AAB-5E9A-8D22-6FDCEA01B731}"/>
              </a:ext>
            </a:extLst>
          </p:cNvPr>
          <p:cNvSpPr>
            <a:spLocks noGrp="1"/>
          </p:cNvSpPr>
          <p:nvPr>
            <p:ph idx="1"/>
          </p:nvPr>
        </p:nvSpPr>
        <p:spPr>
          <a:xfrm>
            <a:off x="758824" y="2607732"/>
            <a:ext cx="5494058" cy="3174357"/>
          </a:xfrm>
        </p:spPr>
        <p:txBody>
          <a:bodyPr>
            <a:normAutofit/>
          </a:bodyPr>
          <a:lstStyle/>
          <a:p>
            <a:r>
              <a:rPr lang="en-US" dirty="0"/>
              <a:t>SQL Code/Description</a:t>
            </a:r>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17833033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3C7884-72BF-2B24-13C8-BD8A9DA8245A}"/>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Report 2: Wine Purchases and Who distributes which. </a:t>
            </a:r>
          </a:p>
        </p:txBody>
      </p:sp>
      <p:sp>
        <p:nvSpPr>
          <p:cNvPr id="3" name="Content Placeholder 2">
            <a:extLst>
              <a:ext uri="{FF2B5EF4-FFF2-40B4-BE49-F238E27FC236}">
                <a16:creationId xmlns:a16="http://schemas.microsoft.com/office/drawing/2014/main" id="{1FBB7750-51BC-092D-3385-0F66A42F7491}"/>
              </a:ext>
            </a:extLst>
          </p:cNvPr>
          <p:cNvSpPr>
            <a:spLocks noGrp="1"/>
          </p:cNvSpPr>
          <p:nvPr>
            <p:ph idx="1"/>
          </p:nvPr>
        </p:nvSpPr>
        <p:spPr>
          <a:xfrm>
            <a:off x="758824" y="2607732"/>
            <a:ext cx="5225117" cy="3174357"/>
          </a:xfrm>
        </p:spPr>
        <p:txBody>
          <a:bodyPr>
            <a:normAutofit/>
          </a:bodyPr>
          <a:lstStyle/>
          <a:p>
            <a:r>
              <a:rPr lang="en-US" dirty="0"/>
              <a:t>SQL Code/Description</a:t>
            </a:r>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359674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3F1664-E984-743C-A5C1-DAEBF9AC6B76}"/>
              </a:ext>
            </a:extLst>
          </p:cNvPr>
          <p:cNvSpPr>
            <a:spLocks noGrp="1"/>
          </p:cNvSpPr>
          <p:nvPr>
            <p:ph type="title"/>
          </p:nvPr>
        </p:nvSpPr>
        <p:spPr>
          <a:xfrm>
            <a:off x="758952" y="379475"/>
            <a:ext cx="10671048" cy="1554480"/>
          </a:xfrm>
        </p:spPr>
        <p:txBody>
          <a:bodyPr anchor="ctr">
            <a:normAutofit/>
          </a:bodyPr>
          <a:lstStyle/>
          <a:p>
            <a:r>
              <a:rPr lang="en-US" sz="5100">
                <a:solidFill>
                  <a:schemeClr val="bg1"/>
                </a:solidFill>
              </a:rPr>
              <a:t>Report 3: Employee Hours per week over the last period</a:t>
            </a:r>
          </a:p>
        </p:txBody>
      </p:sp>
      <p:sp>
        <p:nvSpPr>
          <p:cNvPr id="3" name="Content Placeholder 2">
            <a:extLst>
              <a:ext uri="{FF2B5EF4-FFF2-40B4-BE49-F238E27FC236}">
                <a16:creationId xmlns:a16="http://schemas.microsoft.com/office/drawing/2014/main" id="{51749F38-385E-D63A-DE28-83FE8D4C00F1}"/>
              </a:ext>
            </a:extLst>
          </p:cNvPr>
          <p:cNvSpPr>
            <a:spLocks noGrp="1"/>
          </p:cNvSpPr>
          <p:nvPr>
            <p:ph idx="1"/>
          </p:nvPr>
        </p:nvSpPr>
        <p:spPr>
          <a:xfrm>
            <a:off x="758824" y="2607732"/>
            <a:ext cx="5601635" cy="3174357"/>
          </a:xfrm>
        </p:spPr>
        <p:txBody>
          <a:bodyPr>
            <a:normAutofit/>
          </a:bodyPr>
          <a:lstStyle/>
          <a:p>
            <a:r>
              <a:rPr lang="en-US" dirty="0"/>
              <a:t>SQL Code/Description</a:t>
            </a:r>
          </a:p>
          <a:p>
            <a:endParaRPr lang="en-US" dirty="0"/>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3981163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8C122E-86D2-60B0-26F5-01CDA0E510AF}"/>
              </a:ext>
            </a:extLst>
          </p:cNvPr>
          <p:cNvSpPr>
            <a:spLocks noGrp="1"/>
          </p:cNvSpPr>
          <p:nvPr>
            <p:ph type="title"/>
          </p:nvPr>
        </p:nvSpPr>
        <p:spPr>
          <a:xfrm>
            <a:off x="758952" y="379475"/>
            <a:ext cx="10671048" cy="1554480"/>
          </a:xfrm>
        </p:spPr>
        <p:txBody>
          <a:bodyPr anchor="ctr">
            <a:normAutofit/>
          </a:bodyPr>
          <a:lstStyle/>
          <a:p>
            <a:r>
              <a:rPr lang="en-US">
                <a:solidFill>
                  <a:schemeClr val="bg1"/>
                </a:solidFill>
              </a:rPr>
              <a:t>Assumptions Made</a:t>
            </a:r>
          </a:p>
        </p:txBody>
      </p:sp>
      <p:sp>
        <p:nvSpPr>
          <p:cNvPr id="3" name="Content Placeholder 2">
            <a:extLst>
              <a:ext uri="{FF2B5EF4-FFF2-40B4-BE49-F238E27FC236}">
                <a16:creationId xmlns:a16="http://schemas.microsoft.com/office/drawing/2014/main" id="{3F31C386-372E-CFEC-28C5-24D27DFF4462}"/>
              </a:ext>
            </a:extLst>
          </p:cNvPr>
          <p:cNvSpPr>
            <a:spLocks noGrp="1"/>
          </p:cNvSpPr>
          <p:nvPr>
            <p:ph idx="1"/>
          </p:nvPr>
        </p:nvSpPr>
        <p:spPr>
          <a:xfrm>
            <a:off x="758824" y="2607732"/>
            <a:ext cx="10493376" cy="3870793"/>
          </a:xfrm>
        </p:spPr>
        <p:txBody>
          <a:bodyPr>
            <a:normAutofit lnSpcReduction="10000"/>
          </a:bodyPr>
          <a:lstStyle/>
          <a:p>
            <a:r>
              <a:rPr lang="en-US" dirty="0"/>
              <a:t>List all assumptions made during the process of making the ERD and business rules.</a:t>
            </a:r>
          </a:p>
          <a:p>
            <a:r>
              <a:rPr lang="en-US" dirty="0"/>
              <a:t>(Such as the shipments vs orders relationships.)</a:t>
            </a:r>
          </a:p>
          <a:p>
            <a:endParaRPr lang="en-US" dirty="0"/>
          </a:p>
          <a:p>
            <a:endParaRPr lang="en-US" dirty="0"/>
          </a:p>
          <a:p>
            <a:endParaRPr lang="en-US" dirty="0"/>
          </a:p>
          <a:p>
            <a:r>
              <a:rPr lang="en-US" dirty="0"/>
              <a:t>The wines “age” differently. Without the information for the year the wine was produced, we would have incomplete data and be unable to know which year is not selling and which is. Based on the report on the wines that haven’t sold, we can locate Chardonnay 2024, 2025 and Chablis 2024, 2025 are not fan favorites from our distributors. </a:t>
            </a:r>
          </a:p>
          <a:p>
            <a:endParaRPr lang="en-US" dirty="0"/>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891514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CF1AAE4-D0BC-430F-A613-7BBAAECA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2285999"/>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a:solidFill>
                  <a:schemeClr val="bg1"/>
                </a:solidFill>
              </a:rPr>
              <a:t>Challenges and Resolutoins</a:t>
            </a:r>
          </a:p>
        </p:txBody>
      </p:sp>
      <p:sp>
        <p:nvSpPr>
          <p:cNvPr id="3" name="Content Placeholder 2">
            <a:extLst>
              <a:ext uri="{FF2B5EF4-FFF2-40B4-BE49-F238E27FC236}">
                <a16:creationId xmlns:a16="http://schemas.microsoft.com/office/drawing/2014/main" id="{DF0E4B31-DEAD-22EB-A51B-F1119227BAC1}"/>
              </a:ext>
            </a:extLst>
          </p:cNvPr>
          <p:cNvSpPr>
            <a:spLocks noGrp="1"/>
          </p:cNvSpPr>
          <p:nvPr>
            <p:ph idx="1"/>
          </p:nvPr>
        </p:nvSpPr>
        <p:spPr>
          <a:xfrm>
            <a:off x="758824" y="2607732"/>
            <a:ext cx="8412480" cy="3174357"/>
          </a:xfrm>
        </p:spPr>
        <p:txBody>
          <a:bodyPr>
            <a:normAutofit/>
          </a:bodyPr>
          <a:lstStyle/>
          <a:p>
            <a:r>
              <a:rPr lang="en-US" dirty="0"/>
              <a:t>List any hurdles during the ERD creation.</a:t>
            </a:r>
          </a:p>
          <a:p>
            <a:r>
              <a:rPr lang="en-US" dirty="0"/>
              <a:t>Any issues the team resolved?</a:t>
            </a:r>
          </a:p>
          <a:p>
            <a:r>
              <a:rPr lang="en-US" dirty="0"/>
              <a:t>Any lessons learned?</a:t>
            </a:r>
          </a:p>
        </p:txBody>
      </p:sp>
      <p:sp>
        <p:nvSpPr>
          <p:cNvPr id="12"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6096257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a:t>Thanks for watching our presentation!</a:t>
            </a:r>
            <a:endParaRPr lang="en-US" dirty="0"/>
          </a:p>
        </p:txBody>
      </p:sp>
      <p:cxnSp>
        <p:nvCxnSpPr>
          <p:cNvPr id="20" name="Straight Connector 19">
            <a:extLst>
              <a:ext uri="{FF2B5EF4-FFF2-40B4-BE49-F238E27FC236}">
                <a16:creationId xmlns:a16="http://schemas.microsoft.com/office/drawing/2014/main" id="{63B10E47-AF6B-4C8A-B458-3C6CAF2EBA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8560" y="2519118"/>
            <a:ext cx="1101344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Freeform 6">
            <a:extLst>
              <a:ext uri="{FF2B5EF4-FFF2-40B4-BE49-F238E27FC236}">
                <a16:creationId xmlns:a16="http://schemas.microsoft.com/office/drawing/2014/main" id="{B3BE00DD-5F52-49B1-A83B-F2E555AC5D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Headlines">
      <a:dk1>
        <a:sysClr val="windowText" lastClr="000000"/>
      </a:dk1>
      <a:lt1>
        <a:sysClr val="window" lastClr="FFFFFF"/>
      </a:lt1>
      <a:dk2>
        <a:srgbClr val="232C41"/>
      </a:dk2>
      <a:lt2>
        <a:srgbClr val="F6F4EF"/>
      </a:lt2>
      <a:accent1>
        <a:srgbClr val="439EB7"/>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docProps/app.xml><?xml version="1.0" encoding="utf-8"?>
<Properties xmlns="http://schemas.openxmlformats.org/officeDocument/2006/extended-properties" xmlns:vt="http://schemas.openxmlformats.org/officeDocument/2006/docPropsVTypes">
  <TotalTime>50</TotalTime>
  <Words>462</Words>
  <Application>Microsoft Office PowerPoint</Application>
  <PresentationFormat>Widescreen</PresentationFormat>
  <Paragraphs>42</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Avenir Next LT Pro</vt:lpstr>
      <vt:lpstr>Sitka Banner</vt:lpstr>
      <vt:lpstr>HeadlinesVTI</vt:lpstr>
      <vt:lpstr>Bacchus Winery Case Study</vt:lpstr>
      <vt:lpstr>Group Introduction</vt:lpstr>
      <vt:lpstr>Case Study Overview</vt:lpstr>
      <vt:lpstr>Key Database Requirements</vt:lpstr>
      <vt:lpstr>Finalized ERD part1</vt:lpstr>
      <vt:lpstr>Finalized ERD  part2</vt:lpstr>
      <vt:lpstr>Reports selected for generation</vt:lpstr>
      <vt:lpstr>Report 1: Expected vs Actual Supply Delivery</vt:lpstr>
      <vt:lpstr>Report 2: Wine Purchases and Who distributes which. </vt:lpstr>
      <vt:lpstr>Report 3: Employee Hours per week over the last period</vt:lpstr>
      <vt:lpstr>Assumptions Made</vt:lpstr>
      <vt:lpstr>Challenges and Resolutoins</vt:lpstr>
      <vt:lpstr>Thanks for watching our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Carolina Rodriguez</cp:lastModifiedBy>
  <cp:revision>3</cp:revision>
  <dcterms:created xsi:type="dcterms:W3CDTF">2025-12-10T02:37:12Z</dcterms:created>
  <dcterms:modified xsi:type="dcterms:W3CDTF">2025-12-12T00:56:57Z</dcterms:modified>
</cp:coreProperties>
</file>